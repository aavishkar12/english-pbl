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Vintage Goods" charset="1" panose="00000000000000000000"/>
      <p:regular r:id="rId20"/>
    </p:embeddedFont>
    <p:embeddedFont>
      <p:font typeface="Vintage Smooth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3.png" Type="http://schemas.openxmlformats.org/officeDocument/2006/relationships/image"/><Relationship Id="rId12" Target="../media/image6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4.png" Type="http://schemas.openxmlformats.org/officeDocument/2006/relationships/image"/><Relationship Id="rId12" Target="../media/image8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3.png" Type="http://schemas.openxmlformats.org/officeDocument/2006/relationships/image"/><Relationship Id="rId12" Target="../media/image14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3.png" Type="http://schemas.openxmlformats.org/officeDocument/2006/relationships/image"/><Relationship Id="rId7" Target="../media/image6.png" Type="http://schemas.openxmlformats.org/officeDocument/2006/relationships/image"/><Relationship Id="rId8" Target="../media/image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0.png" Type="http://schemas.openxmlformats.org/officeDocument/2006/relationships/image"/><Relationship Id="rId12" Target="../media/image3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3.png" Type="http://schemas.openxmlformats.org/officeDocument/2006/relationships/image"/><Relationship Id="rId7" Target="../media/image6.png" Type="http://schemas.openxmlformats.org/officeDocument/2006/relationships/image"/><Relationship Id="rId8" Target="../media/image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0.png" Type="http://schemas.openxmlformats.org/officeDocument/2006/relationships/image"/><Relationship Id="rId12" Target="../media/image3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3.png" Type="http://schemas.openxmlformats.org/officeDocument/2006/relationships/image"/><Relationship Id="rId7" Target="../media/image6.png" Type="http://schemas.openxmlformats.org/officeDocument/2006/relationships/image"/><Relationship Id="rId8" Target="../media/image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0.png" Type="http://schemas.openxmlformats.org/officeDocument/2006/relationships/image"/><Relationship Id="rId12" Target="../media/image3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3.png" Type="http://schemas.openxmlformats.org/officeDocument/2006/relationships/image"/><Relationship Id="rId7" Target="../media/image6.png" Type="http://schemas.openxmlformats.org/officeDocument/2006/relationships/image"/><Relationship Id="rId8" Target="../media/image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0.png" Type="http://schemas.openxmlformats.org/officeDocument/2006/relationships/image"/><Relationship Id="rId12" Target="../media/image3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3.png" Type="http://schemas.openxmlformats.org/officeDocument/2006/relationships/image"/><Relationship Id="rId7" Target="../media/image6.png" Type="http://schemas.openxmlformats.org/officeDocument/2006/relationships/image"/><Relationship Id="rId8" Target="../media/image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0.png" Type="http://schemas.openxmlformats.org/officeDocument/2006/relationships/image"/><Relationship Id="rId12" Target="../media/image3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3.png" Type="http://schemas.openxmlformats.org/officeDocument/2006/relationships/image"/><Relationship Id="rId7" Target="../media/image6.png" Type="http://schemas.openxmlformats.org/officeDocument/2006/relationships/image"/><Relationship Id="rId8" Target="../media/image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0.png" Type="http://schemas.openxmlformats.org/officeDocument/2006/relationships/image"/><Relationship Id="rId12" Target="../media/image3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3.png" Type="http://schemas.openxmlformats.org/officeDocument/2006/relationships/image"/><Relationship Id="rId7" Target="../media/image6.png" Type="http://schemas.openxmlformats.org/officeDocument/2006/relationships/image"/><Relationship Id="rId8" Target="../media/image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0.png" Type="http://schemas.openxmlformats.org/officeDocument/2006/relationships/image"/><Relationship Id="rId12" Target="../media/image3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3.png" Type="http://schemas.openxmlformats.org/officeDocument/2006/relationships/image"/><Relationship Id="rId7" Target="../media/image6.png" Type="http://schemas.openxmlformats.org/officeDocument/2006/relationships/image"/><Relationship Id="rId8" Target="../media/image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0.png" Type="http://schemas.openxmlformats.org/officeDocument/2006/relationships/image"/><Relationship Id="rId12" Target="../media/image3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3.png" Type="http://schemas.openxmlformats.org/officeDocument/2006/relationships/image"/><Relationship Id="rId7" Target="../media/image6.png" Type="http://schemas.openxmlformats.org/officeDocument/2006/relationships/image"/><Relationship Id="rId8" Target="../media/image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0.png" Type="http://schemas.openxmlformats.org/officeDocument/2006/relationships/image"/><Relationship Id="rId12" Target="../media/image3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Relationship Id="rId6" Target="../media/image13.png" Type="http://schemas.openxmlformats.org/officeDocument/2006/relationships/image"/><Relationship Id="rId7" Target="../media/image6.png" Type="http://schemas.openxmlformats.org/officeDocument/2006/relationships/image"/><Relationship Id="rId8" Target="../media/image4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41511" y="3790316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4"/>
                </a:lnTo>
                <a:lnTo>
                  <a:pt x="0" y="6496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773853"/>
            <a:ext cx="3426782" cy="3513147"/>
          </a:xfrm>
          <a:custGeom>
            <a:avLst/>
            <a:gdLst/>
            <a:ahLst/>
            <a:cxnLst/>
            <a:rect r="r" b="b" t="t" l="l"/>
            <a:pathLst>
              <a:path h="3513147" w="3426782">
                <a:moveTo>
                  <a:pt x="0" y="0"/>
                </a:moveTo>
                <a:lnTo>
                  <a:pt x="3426782" y="0"/>
                </a:lnTo>
                <a:lnTo>
                  <a:pt x="3426782" y="3513147"/>
                </a:lnTo>
                <a:lnTo>
                  <a:pt x="0" y="351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45718" y="6733556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4"/>
                </a:lnTo>
                <a:lnTo>
                  <a:pt x="0" y="39560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173" t="0" r="-11173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8656542" cy="8107337"/>
          </a:xfrm>
          <a:custGeom>
            <a:avLst/>
            <a:gdLst/>
            <a:ahLst/>
            <a:cxnLst/>
            <a:rect r="r" b="b" t="t" l="l"/>
            <a:pathLst>
              <a:path h="8107337" w="8656542">
                <a:moveTo>
                  <a:pt x="0" y="0"/>
                </a:moveTo>
                <a:lnTo>
                  <a:pt x="8656542" y="0"/>
                </a:lnTo>
                <a:lnTo>
                  <a:pt x="8656542" y="8107337"/>
                </a:lnTo>
                <a:lnTo>
                  <a:pt x="0" y="81073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224" t="-24996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0512" y="584914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0" y="0"/>
                </a:lnTo>
                <a:lnTo>
                  <a:pt x="2586270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0103371" y="0"/>
            <a:ext cx="7993668" cy="7409914"/>
          </a:xfrm>
          <a:custGeom>
            <a:avLst/>
            <a:gdLst/>
            <a:ahLst/>
            <a:cxnLst/>
            <a:rect r="r" b="b" t="t" l="l"/>
            <a:pathLst>
              <a:path h="7409914" w="7993668">
                <a:moveTo>
                  <a:pt x="7993668" y="0"/>
                </a:moveTo>
                <a:lnTo>
                  <a:pt x="0" y="0"/>
                </a:lnTo>
                <a:lnTo>
                  <a:pt x="0" y="7409914"/>
                </a:lnTo>
                <a:lnTo>
                  <a:pt x="7993668" y="7409914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8"/>
            <a:stretch>
              <a:fillRect l="0" t="-35316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00205" y="1529521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9" y="0"/>
                </a:lnTo>
                <a:lnTo>
                  <a:pt x="3861399" y="4350872"/>
                </a:lnTo>
                <a:lnTo>
                  <a:pt x="0" y="43508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26782" y="792629"/>
            <a:ext cx="11600314" cy="9019244"/>
          </a:xfrm>
          <a:custGeom>
            <a:avLst/>
            <a:gdLst/>
            <a:ahLst/>
            <a:cxnLst/>
            <a:rect r="r" b="b" t="t" l="l"/>
            <a:pathLst>
              <a:path h="9019244" w="11600314">
                <a:moveTo>
                  <a:pt x="0" y="0"/>
                </a:moveTo>
                <a:lnTo>
                  <a:pt x="11600314" y="0"/>
                </a:lnTo>
                <a:lnTo>
                  <a:pt x="11600314" y="9019244"/>
                </a:lnTo>
                <a:lnTo>
                  <a:pt x="0" y="90192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66142" y="2945245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8" y="0"/>
                </a:lnTo>
                <a:lnTo>
                  <a:pt x="1094498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256324" y="792629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2" y="0"/>
                </a:lnTo>
                <a:lnTo>
                  <a:pt x="3775352" y="2321841"/>
                </a:lnTo>
                <a:lnTo>
                  <a:pt x="0" y="23218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23467" y="4658267"/>
            <a:ext cx="10376738" cy="190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35"/>
              </a:lnSpc>
            </a:pPr>
            <a:r>
              <a:rPr lang="en-US" sz="12625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Team Four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27401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04978" y="4648742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4"/>
                </a:lnTo>
                <a:lnTo>
                  <a:pt x="0" y="6496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5124" y="-727874"/>
            <a:ext cx="3426782" cy="3513147"/>
          </a:xfrm>
          <a:custGeom>
            <a:avLst/>
            <a:gdLst/>
            <a:ahLst/>
            <a:cxnLst/>
            <a:rect r="r" b="b" t="t" l="l"/>
            <a:pathLst>
              <a:path h="3513147" w="3426782">
                <a:moveTo>
                  <a:pt x="0" y="0"/>
                </a:moveTo>
                <a:lnTo>
                  <a:pt x="3426782" y="0"/>
                </a:lnTo>
                <a:lnTo>
                  <a:pt x="3426782" y="3513148"/>
                </a:lnTo>
                <a:lnTo>
                  <a:pt x="0" y="35131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6208" y="6781205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4"/>
                </a:lnTo>
                <a:lnTo>
                  <a:pt x="0" y="39560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173" t="0" r="-11173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47443" y="0"/>
            <a:ext cx="6984169" cy="5387434"/>
          </a:xfrm>
          <a:custGeom>
            <a:avLst/>
            <a:gdLst/>
            <a:ahLst/>
            <a:cxnLst/>
            <a:rect r="r" b="b" t="t" l="l"/>
            <a:pathLst>
              <a:path h="5387434" w="6984169">
                <a:moveTo>
                  <a:pt x="0" y="0"/>
                </a:moveTo>
                <a:lnTo>
                  <a:pt x="6984169" y="0"/>
                </a:lnTo>
                <a:lnTo>
                  <a:pt x="6984169" y="5387434"/>
                </a:lnTo>
                <a:lnTo>
                  <a:pt x="0" y="538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7676" r="0" b="-1786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0706941" y="5143500"/>
            <a:ext cx="7993668" cy="5143500"/>
          </a:xfrm>
          <a:custGeom>
            <a:avLst/>
            <a:gdLst/>
            <a:ahLst/>
            <a:cxnLst/>
            <a:rect r="r" b="b" t="t" l="l"/>
            <a:pathLst>
              <a:path h="5143500" w="7993668">
                <a:moveTo>
                  <a:pt x="7993668" y="0"/>
                </a:moveTo>
                <a:lnTo>
                  <a:pt x="0" y="0"/>
                </a:lnTo>
                <a:lnTo>
                  <a:pt x="0" y="5143500"/>
                </a:lnTo>
                <a:lnTo>
                  <a:pt x="7993668" y="5143500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7"/>
            <a:stretch>
              <a:fillRect l="0" t="-16150" r="0" b="-7879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41501" y="5539814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8" y="0"/>
                </a:lnTo>
                <a:lnTo>
                  <a:pt x="3861398" y="4350872"/>
                </a:lnTo>
                <a:lnTo>
                  <a:pt x="0" y="43508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12051" y="1241747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8" y="0"/>
                </a:lnTo>
                <a:lnTo>
                  <a:pt x="1094498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033657" y="2326900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2" y="0"/>
                </a:lnTo>
                <a:lnTo>
                  <a:pt x="3775352" y="2321842"/>
                </a:lnTo>
                <a:lnTo>
                  <a:pt x="0" y="2321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131658" y="1157949"/>
            <a:ext cx="12127555" cy="8458970"/>
          </a:xfrm>
          <a:custGeom>
            <a:avLst/>
            <a:gdLst/>
            <a:ahLst/>
            <a:cxnLst/>
            <a:rect r="r" b="b" t="t" l="l"/>
            <a:pathLst>
              <a:path h="8458970" w="12127555">
                <a:moveTo>
                  <a:pt x="0" y="0"/>
                </a:moveTo>
                <a:lnTo>
                  <a:pt x="12127555" y="0"/>
                </a:lnTo>
                <a:lnTo>
                  <a:pt x="12127555" y="8458969"/>
                </a:lnTo>
                <a:lnTo>
                  <a:pt x="0" y="8458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21201" y="1241747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1" y="0"/>
                </a:lnTo>
                <a:lnTo>
                  <a:pt x="2586271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35076" y="1427224"/>
            <a:ext cx="8582707" cy="126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4"/>
              </a:lnSpc>
            </a:pPr>
            <a:r>
              <a:rPr lang="en-US" sz="8337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Team Fourth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21038" y="2671524"/>
            <a:ext cx="901167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aavishkar singh - ra251100301024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21038" y="3585504"/>
            <a:ext cx="901167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nagulavel m -  ra2511003011034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37213" y="4563017"/>
            <a:ext cx="901167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deb jyoti ghosh - ra2511003011044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21038" y="5454089"/>
            <a:ext cx="901167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anupama pandey - ra251103011054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21038" y="6483390"/>
            <a:ext cx="901167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tarannum bansal - ra251103011064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21038" y="7417435"/>
            <a:ext cx="901167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pranav pratap singh - ra2511003011084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245444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04978" y="-2555654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4"/>
                </a:lnTo>
                <a:lnTo>
                  <a:pt x="0" y="6496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59213" y="427883"/>
            <a:ext cx="3426782" cy="3513147"/>
          </a:xfrm>
          <a:custGeom>
            <a:avLst/>
            <a:gdLst/>
            <a:ahLst/>
            <a:cxnLst/>
            <a:rect r="r" b="b" t="t" l="l"/>
            <a:pathLst>
              <a:path h="3513147" w="3426782">
                <a:moveTo>
                  <a:pt x="0" y="0"/>
                </a:moveTo>
                <a:lnTo>
                  <a:pt x="3426782" y="0"/>
                </a:lnTo>
                <a:lnTo>
                  <a:pt x="3426782" y="3513147"/>
                </a:lnTo>
                <a:lnTo>
                  <a:pt x="0" y="3513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65603" y="3225340"/>
            <a:ext cx="6984169" cy="5387434"/>
          </a:xfrm>
          <a:custGeom>
            <a:avLst/>
            <a:gdLst/>
            <a:ahLst/>
            <a:cxnLst/>
            <a:rect r="r" b="b" t="t" l="l"/>
            <a:pathLst>
              <a:path h="5387434" w="6984169">
                <a:moveTo>
                  <a:pt x="0" y="0"/>
                </a:moveTo>
                <a:lnTo>
                  <a:pt x="6984169" y="0"/>
                </a:lnTo>
                <a:lnTo>
                  <a:pt x="6984169" y="5387434"/>
                </a:lnTo>
                <a:lnTo>
                  <a:pt x="0" y="5387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676" r="0" b="-1786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2371662" y="6508000"/>
            <a:ext cx="7993668" cy="5143500"/>
          </a:xfrm>
          <a:custGeom>
            <a:avLst/>
            <a:gdLst/>
            <a:ahLst/>
            <a:cxnLst/>
            <a:rect r="r" b="b" t="t" l="l"/>
            <a:pathLst>
              <a:path h="5143500" w="7993668">
                <a:moveTo>
                  <a:pt x="7993668" y="0"/>
                </a:moveTo>
                <a:lnTo>
                  <a:pt x="0" y="0"/>
                </a:lnTo>
                <a:lnTo>
                  <a:pt x="0" y="5143500"/>
                </a:lnTo>
                <a:lnTo>
                  <a:pt x="7993668" y="5143500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6"/>
            <a:stretch>
              <a:fillRect l="0" t="-16150" r="0" b="-7879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12051" y="6508000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8" y="0"/>
                </a:lnTo>
                <a:lnTo>
                  <a:pt x="1094498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2504" y="427883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2" y="0"/>
                </a:lnTo>
                <a:lnTo>
                  <a:pt x="3775352" y="2321842"/>
                </a:lnTo>
                <a:lnTo>
                  <a:pt x="0" y="23218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31658" y="1157949"/>
            <a:ext cx="12127555" cy="8458970"/>
          </a:xfrm>
          <a:custGeom>
            <a:avLst/>
            <a:gdLst/>
            <a:ahLst/>
            <a:cxnLst/>
            <a:rect r="r" b="b" t="t" l="l"/>
            <a:pathLst>
              <a:path h="8458970" w="12127555">
                <a:moveTo>
                  <a:pt x="0" y="0"/>
                </a:moveTo>
                <a:lnTo>
                  <a:pt x="12127555" y="0"/>
                </a:lnTo>
                <a:lnTo>
                  <a:pt x="12127555" y="8458969"/>
                </a:lnTo>
                <a:lnTo>
                  <a:pt x="0" y="84589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30663" y="5143500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0" y="0"/>
                </a:lnTo>
                <a:lnTo>
                  <a:pt x="2586270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6492" y="3409407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4"/>
                </a:lnTo>
                <a:lnTo>
                  <a:pt x="0" y="39560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1173" t="0" r="-11173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6492" y="7082864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8" y="0"/>
                </a:lnTo>
                <a:lnTo>
                  <a:pt x="3861398" y="4350872"/>
                </a:lnTo>
                <a:lnTo>
                  <a:pt x="0" y="43508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54821" y="1684703"/>
            <a:ext cx="10569613" cy="154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9"/>
              </a:lnSpc>
            </a:pPr>
            <a:r>
              <a:rPr lang="en-US" sz="10267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About The Book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02640" y="3149140"/>
            <a:ext cx="10021794" cy="620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1139" indent="-290569" lvl="1">
              <a:lnSpc>
                <a:spcPts val="3768"/>
              </a:lnSpc>
              <a:buFont typeface="Arial"/>
              <a:buChar char="•"/>
            </a:pPr>
            <a:r>
              <a:rPr lang="en-US" sz="269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The Collection:</a:t>
            </a:r>
            <a:r>
              <a:rPr lang="en-US" sz="269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 The following stories are selected from "Selected Short Stories" by Rabindranath Tagore.</a:t>
            </a:r>
          </a:p>
          <a:p>
            <a:pPr algn="ctr" marL="581139" indent="-290569" lvl="1">
              <a:lnSpc>
                <a:spcPts val="3768"/>
              </a:lnSpc>
              <a:buFont typeface="Arial"/>
              <a:buChar char="•"/>
            </a:pPr>
            <a:r>
              <a:rPr lang="en-US" sz="269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Themes: These stories explore the "small lives and small pains" of ordinary people, focusing on themes of human connection, the longing for freedom, and the emotional complexity of childhood.</a:t>
            </a:r>
          </a:p>
          <a:p>
            <a:pPr algn="ctr" marL="581139" indent="-290569" lvl="1">
              <a:lnSpc>
                <a:spcPts val="3768"/>
              </a:lnSpc>
              <a:buFont typeface="Arial"/>
              <a:buChar char="•"/>
            </a:pPr>
            <a:r>
              <a:rPr lang="en-US" sz="269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Significance: Written largely during the 1890s, these narratives provide a deep reflection on social structures and the universal human spirit.</a:t>
            </a:r>
          </a:p>
          <a:p>
            <a:pPr algn="ctr">
              <a:lnSpc>
                <a:spcPts val="3768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25496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19692" y="-1912022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8" y="0"/>
                </a:lnTo>
                <a:lnTo>
                  <a:pt x="11246488" y="6496684"/>
                </a:lnTo>
                <a:lnTo>
                  <a:pt x="0" y="6496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03831" y="6508000"/>
            <a:ext cx="6984169" cy="5387434"/>
          </a:xfrm>
          <a:custGeom>
            <a:avLst/>
            <a:gdLst/>
            <a:ahLst/>
            <a:cxnLst/>
            <a:rect r="r" b="b" t="t" l="l"/>
            <a:pathLst>
              <a:path h="5387434" w="6984169">
                <a:moveTo>
                  <a:pt x="0" y="0"/>
                </a:moveTo>
                <a:lnTo>
                  <a:pt x="6984169" y="0"/>
                </a:lnTo>
                <a:lnTo>
                  <a:pt x="6984169" y="5387434"/>
                </a:lnTo>
                <a:lnTo>
                  <a:pt x="0" y="538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676" r="0" b="-1786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376792" y="1157949"/>
            <a:ext cx="7993668" cy="5143500"/>
          </a:xfrm>
          <a:custGeom>
            <a:avLst/>
            <a:gdLst/>
            <a:ahLst/>
            <a:cxnLst/>
            <a:rect r="r" b="b" t="t" l="l"/>
            <a:pathLst>
              <a:path h="5143500" w="7993668">
                <a:moveTo>
                  <a:pt x="7993668" y="0"/>
                </a:moveTo>
                <a:lnTo>
                  <a:pt x="0" y="0"/>
                </a:lnTo>
                <a:lnTo>
                  <a:pt x="0" y="5143500"/>
                </a:lnTo>
                <a:lnTo>
                  <a:pt x="7993668" y="5143500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5"/>
            <a:stretch>
              <a:fillRect l="0" t="-16150" r="0" b="-7879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31658" y="1157949"/>
            <a:ext cx="12127555" cy="8458970"/>
          </a:xfrm>
          <a:custGeom>
            <a:avLst/>
            <a:gdLst/>
            <a:ahLst/>
            <a:cxnLst/>
            <a:rect r="r" b="b" t="t" l="l"/>
            <a:pathLst>
              <a:path h="8458970" w="12127555">
                <a:moveTo>
                  <a:pt x="0" y="0"/>
                </a:moveTo>
                <a:lnTo>
                  <a:pt x="12127555" y="0"/>
                </a:lnTo>
                <a:lnTo>
                  <a:pt x="12127555" y="8458969"/>
                </a:lnTo>
                <a:lnTo>
                  <a:pt x="0" y="8458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86333" y="4412234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1" y="0"/>
                </a:lnTo>
                <a:lnTo>
                  <a:pt x="2586271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300376">
            <a:off x="628416" y="-820078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4"/>
                </a:lnTo>
                <a:lnTo>
                  <a:pt x="0" y="39560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73" t="0" r="-1117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91549" y="4907429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8" y="0"/>
                </a:lnTo>
                <a:lnTo>
                  <a:pt x="3861398" y="4350871"/>
                </a:lnTo>
                <a:lnTo>
                  <a:pt x="0" y="435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37679" y="6301449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7" y="0"/>
                </a:lnTo>
                <a:lnTo>
                  <a:pt x="1094497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50140" y="8004946"/>
            <a:ext cx="1963035" cy="2012509"/>
          </a:xfrm>
          <a:custGeom>
            <a:avLst/>
            <a:gdLst/>
            <a:ahLst/>
            <a:cxnLst/>
            <a:rect r="r" b="b" t="t" l="l"/>
            <a:pathLst>
              <a:path h="2012509" w="1963035">
                <a:moveTo>
                  <a:pt x="0" y="0"/>
                </a:moveTo>
                <a:lnTo>
                  <a:pt x="1963035" y="0"/>
                </a:lnTo>
                <a:lnTo>
                  <a:pt x="1963035" y="2012509"/>
                </a:lnTo>
                <a:lnTo>
                  <a:pt x="0" y="201250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18457" y="-78829"/>
            <a:ext cx="4281512" cy="4281512"/>
          </a:xfrm>
          <a:custGeom>
            <a:avLst/>
            <a:gdLst/>
            <a:ahLst/>
            <a:cxnLst/>
            <a:rect r="r" b="b" t="t" l="l"/>
            <a:pathLst>
              <a:path h="4281512" w="4281512">
                <a:moveTo>
                  <a:pt x="0" y="0"/>
                </a:moveTo>
                <a:lnTo>
                  <a:pt x="4281512" y="0"/>
                </a:lnTo>
                <a:lnTo>
                  <a:pt x="4281512" y="4281513"/>
                </a:lnTo>
                <a:lnTo>
                  <a:pt x="0" y="428151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25496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52647" y="1627940"/>
            <a:ext cx="8582707" cy="240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4"/>
              </a:lnSpc>
            </a:pPr>
            <a:r>
              <a:rPr lang="en-US" sz="8337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About The Author</a:t>
            </a:r>
          </a:p>
          <a:p>
            <a:pPr algn="ctr">
              <a:lnSpc>
                <a:spcPts val="9004"/>
              </a:lnSpc>
            </a:pPr>
            <a:r>
              <a:rPr lang="en-US" sz="8337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Rabindranath Tagore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19692" y="4326509"/>
            <a:ext cx="9331445" cy="462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Rabindranath Tagore (1861–1941) was a monumental figure in Indian literature and the first non-European to win the Nobel Prize for Literature in 1913. A prolific poet, philosopher, and artist, he revolutionized Bengali literature and music. He founded Visva-Bharati University and composed the national anthems for both India and Bangladesh.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40833" y="586180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4"/>
                </a:lnTo>
                <a:lnTo>
                  <a:pt x="0" y="6496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765453"/>
            <a:ext cx="6984169" cy="5387434"/>
          </a:xfrm>
          <a:custGeom>
            <a:avLst/>
            <a:gdLst/>
            <a:ahLst/>
            <a:cxnLst/>
            <a:rect r="r" b="b" t="t" l="l"/>
            <a:pathLst>
              <a:path h="5387434" w="6984169">
                <a:moveTo>
                  <a:pt x="0" y="0"/>
                </a:moveTo>
                <a:lnTo>
                  <a:pt x="6984169" y="0"/>
                </a:lnTo>
                <a:lnTo>
                  <a:pt x="6984169" y="5387433"/>
                </a:lnTo>
                <a:lnTo>
                  <a:pt x="0" y="5387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676" r="0" b="-1786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728096">
            <a:off x="-865176" y="-694779"/>
            <a:ext cx="7993668" cy="5143500"/>
          </a:xfrm>
          <a:custGeom>
            <a:avLst/>
            <a:gdLst/>
            <a:ahLst/>
            <a:cxnLst/>
            <a:rect r="r" b="b" t="t" l="l"/>
            <a:pathLst>
              <a:path h="5143500" w="7993668">
                <a:moveTo>
                  <a:pt x="7993668" y="0"/>
                </a:moveTo>
                <a:lnTo>
                  <a:pt x="0" y="0"/>
                </a:lnTo>
                <a:lnTo>
                  <a:pt x="0" y="5143500"/>
                </a:lnTo>
                <a:lnTo>
                  <a:pt x="7993668" y="5143500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5"/>
            <a:stretch>
              <a:fillRect l="0" t="-16150" r="0" b="-7879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31658" y="1157949"/>
            <a:ext cx="12127555" cy="8458970"/>
          </a:xfrm>
          <a:custGeom>
            <a:avLst/>
            <a:gdLst/>
            <a:ahLst/>
            <a:cxnLst/>
            <a:rect r="r" b="b" t="t" l="l"/>
            <a:pathLst>
              <a:path h="8458970" w="12127555">
                <a:moveTo>
                  <a:pt x="0" y="0"/>
                </a:moveTo>
                <a:lnTo>
                  <a:pt x="12127555" y="0"/>
                </a:lnTo>
                <a:lnTo>
                  <a:pt x="12127555" y="8458969"/>
                </a:lnTo>
                <a:lnTo>
                  <a:pt x="0" y="8458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86333" y="4412234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1" y="0"/>
                </a:lnTo>
                <a:lnTo>
                  <a:pt x="2586271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6537651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4"/>
                </a:lnTo>
                <a:lnTo>
                  <a:pt x="0" y="39560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73" t="0" r="-1117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2835" y="716051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8" y="0"/>
                </a:lnTo>
                <a:lnTo>
                  <a:pt x="3861398" y="4350871"/>
                </a:lnTo>
                <a:lnTo>
                  <a:pt x="0" y="435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91792" y="355617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3" y="0"/>
                </a:lnTo>
                <a:lnTo>
                  <a:pt x="3775353" y="2321841"/>
                </a:lnTo>
                <a:lnTo>
                  <a:pt x="0" y="23218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5387434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7" y="0"/>
                </a:lnTo>
                <a:lnTo>
                  <a:pt x="1094497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248244" y="6537651"/>
            <a:ext cx="2862449" cy="2934591"/>
          </a:xfrm>
          <a:custGeom>
            <a:avLst/>
            <a:gdLst/>
            <a:ahLst/>
            <a:cxnLst/>
            <a:rect r="r" b="b" t="t" l="l"/>
            <a:pathLst>
              <a:path h="2934591" w="2862449">
                <a:moveTo>
                  <a:pt x="0" y="0"/>
                </a:moveTo>
                <a:lnTo>
                  <a:pt x="2862449" y="0"/>
                </a:lnTo>
                <a:lnTo>
                  <a:pt x="2862449" y="2934591"/>
                </a:lnTo>
                <a:lnTo>
                  <a:pt x="0" y="29345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53534" y="2039294"/>
            <a:ext cx="12982490" cy="1906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20"/>
              </a:lnSpc>
            </a:pPr>
            <a:r>
              <a:rPr lang="en-US" sz="12611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Stories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0786" y="4447455"/>
            <a:ext cx="15927986" cy="2643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8"/>
              </a:lnSpc>
            </a:pPr>
            <a:r>
              <a:rPr lang="en-US" sz="4948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1) Kabuliwallah</a:t>
            </a:r>
          </a:p>
          <a:p>
            <a:pPr algn="ctr">
              <a:lnSpc>
                <a:spcPts val="6928"/>
              </a:lnSpc>
            </a:pPr>
            <a:r>
              <a:rPr lang="en-US" sz="4948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2)Holiday ( chhuti)</a:t>
            </a:r>
          </a:p>
          <a:p>
            <a:pPr algn="ctr">
              <a:lnSpc>
                <a:spcPts val="6928"/>
              </a:lnSpc>
            </a:pPr>
            <a:r>
              <a:rPr lang="en-US" sz="4948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3) guest ( atithi)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25496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66578" y="6009958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4"/>
                </a:lnTo>
                <a:lnTo>
                  <a:pt x="0" y="6496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427" y="6923202"/>
            <a:ext cx="6984169" cy="5387434"/>
          </a:xfrm>
          <a:custGeom>
            <a:avLst/>
            <a:gdLst/>
            <a:ahLst/>
            <a:cxnLst/>
            <a:rect r="r" b="b" t="t" l="l"/>
            <a:pathLst>
              <a:path h="5387434" w="6984169">
                <a:moveTo>
                  <a:pt x="0" y="0"/>
                </a:moveTo>
                <a:lnTo>
                  <a:pt x="6984169" y="0"/>
                </a:lnTo>
                <a:lnTo>
                  <a:pt x="6984169" y="5387433"/>
                </a:lnTo>
                <a:lnTo>
                  <a:pt x="0" y="5387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676" r="0" b="-1786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728096">
            <a:off x="2352468" y="-347704"/>
            <a:ext cx="7993668" cy="5143500"/>
          </a:xfrm>
          <a:custGeom>
            <a:avLst/>
            <a:gdLst/>
            <a:ahLst/>
            <a:cxnLst/>
            <a:rect r="r" b="b" t="t" l="l"/>
            <a:pathLst>
              <a:path h="5143500" w="7993668">
                <a:moveTo>
                  <a:pt x="7993668" y="0"/>
                </a:moveTo>
                <a:lnTo>
                  <a:pt x="0" y="0"/>
                </a:lnTo>
                <a:lnTo>
                  <a:pt x="0" y="5143500"/>
                </a:lnTo>
                <a:lnTo>
                  <a:pt x="7993668" y="5143500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5"/>
            <a:stretch>
              <a:fillRect l="0" t="-16150" r="0" b="-7879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31658" y="1157949"/>
            <a:ext cx="12127555" cy="8458970"/>
          </a:xfrm>
          <a:custGeom>
            <a:avLst/>
            <a:gdLst/>
            <a:ahLst/>
            <a:cxnLst/>
            <a:rect r="r" b="b" t="t" l="l"/>
            <a:pathLst>
              <a:path h="8458970" w="12127555">
                <a:moveTo>
                  <a:pt x="0" y="0"/>
                </a:moveTo>
                <a:lnTo>
                  <a:pt x="12127555" y="0"/>
                </a:lnTo>
                <a:lnTo>
                  <a:pt x="12127555" y="8458969"/>
                </a:lnTo>
                <a:lnTo>
                  <a:pt x="0" y="8458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66078" y="7571070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0" y="0"/>
                </a:lnTo>
                <a:lnTo>
                  <a:pt x="2586270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29883" y="6537651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4"/>
                </a:lnTo>
                <a:lnTo>
                  <a:pt x="0" y="39560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73" t="0" r="-1117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80032" y="-430733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8" y="0"/>
                </a:lnTo>
                <a:lnTo>
                  <a:pt x="3861398" y="4350871"/>
                </a:lnTo>
                <a:lnTo>
                  <a:pt x="0" y="435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66078" y="3920138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2" y="0"/>
                </a:lnTo>
                <a:lnTo>
                  <a:pt x="3775352" y="2321842"/>
                </a:lnTo>
                <a:lnTo>
                  <a:pt x="0" y="2321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5385" y="427527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8" y="0"/>
                </a:lnTo>
                <a:lnTo>
                  <a:pt x="1094498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69209" y="3920138"/>
            <a:ext cx="2862449" cy="2934591"/>
          </a:xfrm>
          <a:custGeom>
            <a:avLst/>
            <a:gdLst/>
            <a:ahLst/>
            <a:cxnLst/>
            <a:rect r="r" b="b" t="t" l="l"/>
            <a:pathLst>
              <a:path h="2934591" w="2862449">
                <a:moveTo>
                  <a:pt x="0" y="0"/>
                </a:moveTo>
                <a:lnTo>
                  <a:pt x="2862449" y="0"/>
                </a:lnTo>
                <a:lnTo>
                  <a:pt x="2862449" y="2934591"/>
                </a:lnTo>
                <a:lnTo>
                  <a:pt x="0" y="29345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638165" y="1744702"/>
            <a:ext cx="8582707" cy="126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4"/>
              </a:lnSpc>
            </a:pPr>
            <a:r>
              <a:rPr lang="en-US" sz="8337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Kabuliwallah - Summary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25061" y="2876732"/>
            <a:ext cx="8608915" cy="658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4605" indent="-267303" lvl="1">
              <a:lnSpc>
                <a:spcPts val="3466"/>
              </a:lnSpc>
              <a:buFont typeface="Arial"/>
              <a:buChar char="•"/>
            </a:pPr>
            <a:r>
              <a:rPr lang="en-US" sz="2476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The story depicts the beautiful friendship between Mini, a talkative five-year-old girl, and Rahamat, a giant fruit-seller from Kabul.</a:t>
            </a:r>
          </a:p>
          <a:p>
            <a:pPr algn="just" marL="534605" indent="-267303" lvl="1">
              <a:lnSpc>
                <a:spcPts val="3466"/>
              </a:lnSpc>
              <a:buFont typeface="Arial"/>
              <a:buChar char="•"/>
            </a:pPr>
            <a:r>
              <a:rPr lang="en-US" sz="2476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Rahamat sees his own distant daughter in Mini and brings her dry fruits to win her over.</a:t>
            </a:r>
          </a:p>
          <a:p>
            <a:pPr algn="just" marL="534605" indent="-267303" lvl="1">
              <a:lnSpc>
                <a:spcPts val="3466"/>
              </a:lnSpc>
              <a:buFont typeface="Arial"/>
              <a:buChar char="•"/>
            </a:pPr>
            <a:r>
              <a:rPr lang="en-US" sz="2476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Years later, after Rahamat is released from prison, he returns to find Mini on her wedding day.</a:t>
            </a:r>
          </a:p>
          <a:p>
            <a:pPr algn="just" marL="534605" indent="-267303" lvl="1">
              <a:lnSpc>
                <a:spcPts val="3466"/>
              </a:lnSpc>
              <a:buFont typeface="Arial"/>
              <a:buChar char="•"/>
            </a:pPr>
            <a:r>
              <a:rPr lang="en-US" sz="2476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He realizes that his own daughter must have grown up too, highlighting a shared bond of fatherhood that transcends geography and social class.</a:t>
            </a:r>
          </a:p>
          <a:p>
            <a:pPr algn="just">
              <a:lnSpc>
                <a:spcPts val="3466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27401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68577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3"/>
                </a:lnTo>
                <a:lnTo>
                  <a:pt x="0" y="6496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427" y="6923202"/>
            <a:ext cx="6984169" cy="5387434"/>
          </a:xfrm>
          <a:custGeom>
            <a:avLst/>
            <a:gdLst/>
            <a:ahLst/>
            <a:cxnLst/>
            <a:rect r="r" b="b" t="t" l="l"/>
            <a:pathLst>
              <a:path h="5387434" w="6984169">
                <a:moveTo>
                  <a:pt x="0" y="0"/>
                </a:moveTo>
                <a:lnTo>
                  <a:pt x="6984169" y="0"/>
                </a:lnTo>
                <a:lnTo>
                  <a:pt x="6984169" y="5387433"/>
                </a:lnTo>
                <a:lnTo>
                  <a:pt x="0" y="5387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676" r="0" b="-1786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728096">
            <a:off x="12161420" y="-145470"/>
            <a:ext cx="7993668" cy="5143500"/>
          </a:xfrm>
          <a:custGeom>
            <a:avLst/>
            <a:gdLst/>
            <a:ahLst/>
            <a:cxnLst/>
            <a:rect r="r" b="b" t="t" l="l"/>
            <a:pathLst>
              <a:path h="5143500" w="7993668">
                <a:moveTo>
                  <a:pt x="7993668" y="0"/>
                </a:moveTo>
                <a:lnTo>
                  <a:pt x="0" y="0"/>
                </a:lnTo>
                <a:lnTo>
                  <a:pt x="0" y="5143500"/>
                </a:lnTo>
                <a:lnTo>
                  <a:pt x="7993668" y="5143500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5"/>
            <a:stretch>
              <a:fillRect l="0" t="-16150" r="0" b="-7879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31658" y="1157949"/>
            <a:ext cx="12127555" cy="8458970"/>
          </a:xfrm>
          <a:custGeom>
            <a:avLst/>
            <a:gdLst/>
            <a:ahLst/>
            <a:cxnLst/>
            <a:rect r="r" b="b" t="t" l="l"/>
            <a:pathLst>
              <a:path h="8458970" w="12127555">
                <a:moveTo>
                  <a:pt x="0" y="0"/>
                </a:moveTo>
                <a:lnTo>
                  <a:pt x="12127555" y="0"/>
                </a:lnTo>
                <a:lnTo>
                  <a:pt x="12127555" y="8458969"/>
                </a:lnTo>
                <a:lnTo>
                  <a:pt x="0" y="8458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38522" y="4442826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1" y="0"/>
                </a:lnTo>
                <a:lnTo>
                  <a:pt x="2586271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6263" y="6923202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3"/>
                </a:lnTo>
                <a:lnTo>
                  <a:pt x="0" y="39560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73" t="0" r="-1117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80032" y="-430733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8" y="0"/>
                </a:lnTo>
                <a:lnTo>
                  <a:pt x="3861398" y="4350871"/>
                </a:lnTo>
                <a:lnTo>
                  <a:pt x="0" y="435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80032" y="6923202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2" y="0"/>
                </a:lnTo>
                <a:lnTo>
                  <a:pt x="3775352" y="2321841"/>
                </a:lnTo>
                <a:lnTo>
                  <a:pt x="0" y="23218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69263" y="513143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7" y="0"/>
                </a:lnTo>
                <a:lnTo>
                  <a:pt x="1094497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14" y="277407"/>
            <a:ext cx="2862449" cy="2934591"/>
          </a:xfrm>
          <a:custGeom>
            <a:avLst/>
            <a:gdLst/>
            <a:ahLst/>
            <a:cxnLst/>
            <a:rect r="r" b="b" t="t" l="l"/>
            <a:pathLst>
              <a:path h="2934591" w="2862449">
                <a:moveTo>
                  <a:pt x="0" y="0"/>
                </a:moveTo>
                <a:lnTo>
                  <a:pt x="2862449" y="0"/>
                </a:lnTo>
                <a:lnTo>
                  <a:pt x="2862449" y="2934591"/>
                </a:lnTo>
                <a:lnTo>
                  <a:pt x="0" y="29345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94684" y="1601876"/>
            <a:ext cx="8601503" cy="354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24"/>
              </a:lnSpc>
            </a:pPr>
            <a:r>
              <a:rPr lang="en-US" sz="8355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Kabuliwallah </a:t>
            </a:r>
          </a:p>
          <a:p>
            <a:pPr algn="ctr">
              <a:lnSpc>
                <a:spcPts val="9024"/>
              </a:lnSpc>
            </a:pPr>
            <a:r>
              <a:rPr lang="en-US" sz="8355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Connection to the Theme </a:t>
            </a:r>
          </a:p>
          <a:p>
            <a:pPr algn="ctr">
              <a:lnSpc>
                <a:spcPts val="902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623244" y="3834413"/>
            <a:ext cx="6810519" cy="544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2640" indent="-301320" lvl="1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Universal Fatherhood:</a:t>
            </a:r>
            <a:r>
              <a:rPr lang="en-US" sz="279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 The story proves that parental love is a universal emotion that connects people regardless of their background.</a:t>
            </a:r>
          </a:p>
          <a:p>
            <a:pPr algn="ctr" marL="602640" indent="-301320" lvl="1">
              <a:lnSpc>
                <a:spcPts val="3907"/>
              </a:lnSpc>
              <a:buFont typeface="Arial"/>
              <a:buChar char="•"/>
            </a:pPr>
            <a:r>
              <a:rPr lang="en-US" sz="279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Human Connection:</a:t>
            </a:r>
            <a:r>
              <a:rPr lang="en-US" sz="279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 It teaches that empathy can bridge the gap between different cultures and ages.</a:t>
            </a:r>
          </a:p>
          <a:p>
            <a:pPr algn="ctr">
              <a:lnSpc>
                <a:spcPts val="3907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25496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66578" y="6009958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4"/>
                </a:lnTo>
                <a:lnTo>
                  <a:pt x="0" y="6496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427" y="6923202"/>
            <a:ext cx="6984169" cy="5387434"/>
          </a:xfrm>
          <a:custGeom>
            <a:avLst/>
            <a:gdLst/>
            <a:ahLst/>
            <a:cxnLst/>
            <a:rect r="r" b="b" t="t" l="l"/>
            <a:pathLst>
              <a:path h="5387434" w="6984169">
                <a:moveTo>
                  <a:pt x="0" y="0"/>
                </a:moveTo>
                <a:lnTo>
                  <a:pt x="6984169" y="0"/>
                </a:lnTo>
                <a:lnTo>
                  <a:pt x="6984169" y="5387433"/>
                </a:lnTo>
                <a:lnTo>
                  <a:pt x="0" y="5387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676" r="0" b="-1786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728096">
            <a:off x="2352468" y="-347704"/>
            <a:ext cx="7993668" cy="5143500"/>
          </a:xfrm>
          <a:custGeom>
            <a:avLst/>
            <a:gdLst/>
            <a:ahLst/>
            <a:cxnLst/>
            <a:rect r="r" b="b" t="t" l="l"/>
            <a:pathLst>
              <a:path h="5143500" w="7993668">
                <a:moveTo>
                  <a:pt x="7993668" y="0"/>
                </a:moveTo>
                <a:lnTo>
                  <a:pt x="0" y="0"/>
                </a:lnTo>
                <a:lnTo>
                  <a:pt x="0" y="5143500"/>
                </a:lnTo>
                <a:lnTo>
                  <a:pt x="7993668" y="5143500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5"/>
            <a:stretch>
              <a:fillRect l="0" t="-16150" r="0" b="-7879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31658" y="1157949"/>
            <a:ext cx="12127555" cy="8458970"/>
          </a:xfrm>
          <a:custGeom>
            <a:avLst/>
            <a:gdLst/>
            <a:ahLst/>
            <a:cxnLst/>
            <a:rect r="r" b="b" t="t" l="l"/>
            <a:pathLst>
              <a:path h="8458970" w="12127555">
                <a:moveTo>
                  <a:pt x="0" y="0"/>
                </a:moveTo>
                <a:lnTo>
                  <a:pt x="12127555" y="0"/>
                </a:lnTo>
                <a:lnTo>
                  <a:pt x="12127555" y="8458969"/>
                </a:lnTo>
                <a:lnTo>
                  <a:pt x="0" y="8458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66078" y="7571070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0" y="0"/>
                </a:lnTo>
                <a:lnTo>
                  <a:pt x="2586270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29883" y="6537651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4"/>
                </a:lnTo>
                <a:lnTo>
                  <a:pt x="0" y="39560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73" t="0" r="-1117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80032" y="-430733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8" y="0"/>
                </a:lnTo>
                <a:lnTo>
                  <a:pt x="3861398" y="4350871"/>
                </a:lnTo>
                <a:lnTo>
                  <a:pt x="0" y="435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66078" y="3920138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2" y="0"/>
                </a:lnTo>
                <a:lnTo>
                  <a:pt x="3775352" y="2321842"/>
                </a:lnTo>
                <a:lnTo>
                  <a:pt x="0" y="2321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5385" y="427527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8" y="0"/>
                </a:lnTo>
                <a:lnTo>
                  <a:pt x="1094498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69209" y="3920138"/>
            <a:ext cx="2862449" cy="2934591"/>
          </a:xfrm>
          <a:custGeom>
            <a:avLst/>
            <a:gdLst/>
            <a:ahLst/>
            <a:cxnLst/>
            <a:rect r="r" b="b" t="t" l="l"/>
            <a:pathLst>
              <a:path h="2934591" w="2862449">
                <a:moveTo>
                  <a:pt x="0" y="0"/>
                </a:moveTo>
                <a:lnTo>
                  <a:pt x="2862449" y="0"/>
                </a:lnTo>
                <a:lnTo>
                  <a:pt x="2862449" y="2934591"/>
                </a:lnTo>
                <a:lnTo>
                  <a:pt x="0" y="29345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638165" y="1744702"/>
            <a:ext cx="8582707" cy="126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4"/>
              </a:lnSpc>
            </a:pPr>
            <a:r>
              <a:rPr lang="en-US" sz="8337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Holiday - Summary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38165" y="2898155"/>
            <a:ext cx="8608915" cy="614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4605" indent="-267303" lvl="1">
              <a:lnSpc>
                <a:spcPts val="3466"/>
              </a:lnSpc>
              <a:buFont typeface="Arial"/>
              <a:buChar char="•"/>
            </a:pPr>
            <a:r>
              <a:rPr lang="en-US" sz="2476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Phatik Chakravorti, a mischievous boy in a village, is sent to Calcutta to live with his uncle and get an education.</a:t>
            </a:r>
          </a:p>
          <a:p>
            <a:pPr algn="just" marL="534605" indent="-267303" lvl="1">
              <a:lnSpc>
                <a:spcPts val="3466"/>
              </a:lnSpc>
              <a:buFont typeface="Arial"/>
              <a:buChar char="•"/>
            </a:pPr>
            <a:r>
              <a:rPr lang="en-US" sz="2476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In the city, he feels like an unwelcome guest, constantly criticized by his aunt and struggling in a cramped school.</a:t>
            </a:r>
          </a:p>
          <a:p>
            <a:pPr algn="just" marL="534605" indent="-267303" lvl="1">
              <a:lnSpc>
                <a:spcPts val="3466"/>
              </a:lnSpc>
              <a:buFont typeface="Arial"/>
              <a:buChar char="•"/>
            </a:pPr>
            <a:r>
              <a:rPr lang="en-US" sz="2476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Deeply homesick, Phatik yearns for the freedom of his village and the "holiday" of going home.</a:t>
            </a:r>
          </a:p>
          <a:p>
            <a:pPr algn="just" marL="534605" indent="-267303" lvl="1">
              <a:lnSpc>
                <a:spcPts val="3466"/>
              </a:lnSpc>
              <a:buFont typeface="Arial"/>
              <a:buChar char="•"/>
            </a:pPr>
            <a:r>
              <a:rPr lang="en-US" sz="2476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The story ends tragically when his ultimate "holiday"—freedom from his suffering—comes through his falling ill and passing away just as his mother arrives.</a:t>
            </a:r>
          </a:p>
          <a:p>
            <a:pPr algn="just">
              <a:lnSpc>
                <a:spcPts val="3466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25496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68577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3"/>
                </a:lnTo>
                <a:lnTo>
                  <a:pt x="0" y="6496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427" y="6923202"/>
            <a:ext cx="6984169" cy="5387434"/>
          </a:xfrm>
          <a:custGeom>
            <a:avLst/>
            <a:gdLst/>
            <a:ahLst/>
            <a:cxnLst/>
            <a:rect r="r" b="b" t="t" l="l"/>
            <a:pathLst>
              <a:path h="5387434" w="6984169">
                <a:moveTo>
                  <a:pt x="0" y="0"/>
                </a:moveTo>
                <a:lnTo>
                  <a:pt x="6984169" y="0"/>
                </a:lnTo>
                <a:lnTo>
                  <a:pt x="6984169" y="5387433"/>
                </a:lnTo>
                <a:lnTo>
                  <a:pt x="0" y="5387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676" r="0" b="-1786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728096">
            <a:off x="12161420" y="-145470"/>
            <a:ext cx="7993668" cy="5143500"/>
          </a:xfrm>
          <a:custGeom>
            <a:avLst/>
            <a:gdLst/>
            <a:ahLst/>
            <a:cxnLst/>
            <a:rect r="r" b="b" t="t" l="l"/>
            <a:pathLst>
              <a:path h="5143500" w="7993668">
                <a:moveTo>
                  <a:pt x="7993668" y="0"/>
                </a:moveTo>
                <a:lnTo>
                  <a:pt x="0" y="0"/>
                </a:lnTo>
                <a:lnTo>
                  <a:pt x="0" y="5143500"/>
                </a:lnTo>
                <a:lnTo>
                  <a:pt x="7993668" y="5143500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5"/>
            <a:stretch>
              <a:fillRect l="0" t="-16150" r="0" b="-7879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31658" y="1157949"/>
            <a:ext cx="12127555" cy="8458970"/>
          </a:xfrm>
          <a:custGeom>
            <a:avLst/>
            <a:gdLst/>
            <a:ahLst/>
            <a:cxnLst/>
            <a:rect r="r" b="b" t="t" l="l"/>
            <a:pathLst>
              <a:path h="8458970" w="12127555">
                <a:moveTo>
                  <a:pt x="0" y="0"/>
                </a:moveTo>
                <a:lnTo>
                  <a:pt x="12127555" y="0"/>
                </a:lnTo>
                <a:lnTo>
                  <a:pt x="12127555" y="8458969"/>
                </a:lnTo>
                <a:lnTo>
                  <a:pt x="0" y="8458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38522" y="4442826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1" y="0"/>
                </a:lnTo>
                <a:lnTo>
                  <a:pt x="2586271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6263" y="6923202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3"/>
                </a:lnTo>
                <a:lnTo>
                  <a:pt x="0" y="39560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73" t="0" r="-1117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80032" y="-430733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8" y="0"/>
                </a:lnTo>
                <a:lnTo>
                  <a:pt x="3861398" y="4350871"/>
                </a:lnTo>
                <a:lnTo>
                  <a:pt x="0" y="435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80032" y="6923202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2" y="0"/>
                </a:lnTo>
                <a:lnTo>
                  <a:pt x="3775352" y="2321841"/>
                </a:lnTo>
                <a:lnTo>
                  <a:pt x="0" y="23218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69263" y="513143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7" y="0"/>
                </a:lnTo>
                <a:lnTo>
                  <a:pt x="1094497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14" y="277407"/>
            <a:ext cx="2862449" cy="2934591"/>
          </a:xfrm>
          <a:custGeom>
            <a:avLst/>
            <a:gdLst/>
            <a:ahLst/>
            <a:cxnLst/>
            <a:rect r="r" b="b" t="t" l="l"/>
            <a:pathLst>
              <a:path h="2934591" w="2862449">
                <a:moveTo>
                  <a:pt x="0" y="0"/>
                </a:moveTo>
                <a:lnTo>
                  <a:pt x="2862449" y="0"/>
                </a:lnTo>
                <a:lnTo>
                  <a:pt x="2862449" y="2934591"/>
                </a:lnTo>
                <a:lnTo>
                  <a:pt x="0" y="29345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94684" y="1601876"/>
            <a:ext cx="8601503" cy="354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24"/>
              </a:lnSpc>
            </a:pPr>
            <a:r>
              <a:rPr lang="en-US" sz="8355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Holiday</a:t>
            </a:r>
          </a:p>
          <a:p>
            <a:pPr algn="ctr">
              <a:lnSpc>
                <a:spcPts val="9024"/>
              </a:lnSpc>
            </a:pPr>
            <a:r>
              <a:rPr lang="en-US" sz="8355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Connection to the Theme </a:t>
            </a:r>
          </a:p>
          <a:p>
            <a:pPr algn="ctr">
              <a:lnSpc>
                <a:spcPts val="902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353042" y="3834413"/>
            <a:ext cx="7581916" cy="550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70899" indent="-335449" lvl="1">
              <a:lnSpc>
                <a:spcPts val="4350"/>
              </a:lnSpc>
              <a:buFont typeface="Arial"/>
              <a:buChar char="•"/>
            </a:pPr>
            <a:r>
              <a:rPr lang="en-US" sz="3107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The Pain of Alienation:</a:t>
            </a:r>
            <a:r>
              <a:rPr lang="en-US" sz="3107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 It shows the emotional toll that a lack of love and belonging can take on a child.</a:t>
            </a:r>
          </a:p>
          <a:p>
            <a:pPr algn="ctr" marL="670899" indent="-335449" lvl="1">
              <a:lnSpc>
                <a:spcPts val="4350"/>
              </a:lnSpc>
              <a:buFont typeface="Arial"/>
              <a:buChar char="•"/>
            </a:pPr>
            <a:r>
              <a:rPr lang="en-US" sz="3107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Nature vs. City:</a:t>
            </a:r>
            <a:r>
              <a:rPr lang="en-US" sz="3107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 It highlights the critical need for a supportive environment that respects an individual's natural spirit.</a:t>
            </a:r>
          </a:p>
          <a:p>
            <a:pPr algn="ctr">
              <a:lnSpc>
                <a:spcPts val="4350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25496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66578" y="6009958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4"/>
                </a:lnTo>
                <a:lnTo>
                  <a:pt x="0" y="6496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427" y="6923202"/>
            <a:ext cx="6984169" cy="5387434"/>
          </a:xfrm>
          <a:custGeom>
            <a:avLst/>
            <a:gdLst/>
            <a:ahLst/>
            <a:cxnLst/>
            <a:rect r="r" b="b" t="t" l="l"/>
            <a:pathLst>
              <a:path h="5387434" w="6984169">
                <a:moveTo>
                  <a:pt x="0" y="0"/>
                </a:moveTo>
                <a:lnTo>
                  <a:pt x="6984169" y="0"/>
                </a:lnTo>
                <a:lnTo>
                  <a:pt x="6984169" y="5387433"/>
                </a:lnTo>
                <a:lnTo>
                  <a:pt x="0" y="5387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676" r="0" b="-1786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728096">
            <a:off x="2352468" y="-347704"/>
            <a:ext cx="7993668" cy="5143500"/>
          </a:xfrm>
          <a:custGeom>
            <a:avLst/>
            <a:gdLst/>
            <a:ahLst/>
            <a:cxnLst/>
            <a:rect r="r" b="b" t="t" l="l"/>
            <a:pathLst>
              <a:path h="5143500" w="7993668">
                <a:moveTo>
                  <a:pt x="7993668" y="0"/>
                </a:moveTo>
                <a:lnTo>
                  <a:pt x="0" y="0"/>
                </a:lnTo>
                <a:lnTo>
                  <a:pt x="0" y="5143500"/>
                </a:lnTo>
                <a:lnTo>
                  <a:pt x="7993668" y="5143500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5"/>
            <a:stretch>
              <a:fillRect l="0" t="-16150" r="0" b="-7879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31658" y="1157949"/>
            <a:ext cx="12127555" cy="8458970"/>
          </a:xfrm>
          <a:custGeom>
            <a:avLst/>
            <a:gdLst/>
            <a:ahLst/>
            <a:cxnLst/>
            <a:rect r="r" b="b" t="t" l="l"/>
            <a:pathLst>
              <a:path h="8458970" w="12127555">
                <a:moveTo>
                  <a:pt x="0" y="0"/>
                </a:moveTo>
                <a:lnTo>
                  <a:pt x="12127555" y="0"/>
                </a:lnTo>
                <a:lnTo>
                  <a:pt x="12127555" y="8458969"/>
                </a:lnTo>
                <a:lnTo>
                  <a:pt x="0" y="8458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66078" y="7571070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0" y="0"/>
                </a:lnTo>
                <a:lnTo>
                  <a:pt x="2586270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29883" y="6537651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4"/>
                </a:lnTo>
                <a:lnTo>
                  <a:pt x="0" y="39560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73" t="0" r="-1117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80032" y="-430733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8" y="0"/>
                </a:lnTo>
                <a:lnTo>
                  <a:pt x="3861398" y="4350871"/>
                </a:lnTo>
                <a:lnTo>
                  <a:pt x="0" y="435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66078" y="3920138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2" y="0"/>
                </a:lnTo>
                <a:lnTo>
                  <a:pt x="3775352" y="2321842"/>
                </a:lnTo>
                <a:lnTo>
                  <a:pt x="0" y="2321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5385" y="427527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8" y="0"/>
                </a:lnTo>
                <a:lnTo>
                  <a:pt x="1094498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69209" y="3920138"/>
            <a:ext cx="2862449" cy="2934591"/>
          </a:xfrm>
          <a:custGeom>
            <a:avLst/>
            <a:gdLst/>
            <a:ahLst/>
            <a:cxnLst/>
            <a:rect r="r" b="b" t="t" l="l"/>
            <a:pathLst>
              <a:path h="2934591" w="2862449">
                <a:moveTo>
                  <a:pt x="0" y="0"/>
                </a:moveTo>
                <a:lnTo>
                  <a:pt x="2862449" y="0"/>
                </a:lnTo>
                <a:lnTo>
                  <a:pt x="2862449" y="2934591"/>
                </a:lnTo>
                <a:lnTo>
                  <a:pt x="0" y="29345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638165" y="1744702"/>
            <a:ext cx="9113596" cy="126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4"/>
              </a:lnSpc>
            </a:pPr>
            <a:r>
              <a:rPr lang="en-US" sz="8337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Guest (Atithi) - Summary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07276" y="3069037"/>
            <a:ext cx="9644485" cy="580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3753" indent="-271876" lvl="1">
              <a:lnSpc>
                <a:spcPts val="3525"/>
              </a:lnSpc>
              <a:buFont typeface="Arial"/>
              <a:buChar char="•"/>
            </a:pPr>
            <a:r>
              <a:rPr lang="en-US" sz="2518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Tarapada is a young boy with a wandering soul who runs away from his home to join various groups of performers and travelers.</a:t>
            </a:r>
          </a:p>
          <a:p>
            <a:pPr algn="just" marL="543753" indent="-271876" lvl="1">
              <a:lnSpc>
                <a:spcPts val="3525"/>
              </a:lnSpc>
              <a:buFont typeface="Arial"/>
              <a:buChar char="•"/>
            </a:pPr>
            <a:r>
              <a:rPr lang="en-US" sz="2518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He is eventually taken in by a kind zamindar’s family who treats him like a son and hopes to marry him to their daughter, Charushashi.</a:t>
            </a:r>
          </a:p>
          <a:p>
            <a:pPr algn="just" marL="543753" indent="-271876" lvl="1">
              <a:lnSpc>
                <a:spcPts val="3525"/>
              </a:lnSpc>
              <a:buFont typeface="Arial"/>
              <a:buChar char="•"/>
            </a:pPr>
            <a:r>
              <a:rPr lang="en-US" sz="2518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Despite the comfort and affection offered to him, Tarapada’s spirit remains "entirely detached and free".</a:t>
            </a:r>
          </a:p>
          <a:p>
            <a:pPr algn="just" marL="543753" indent="-271876" lvl="1">
              <a:lnSpc>
                <a:spcPts val="3525"/>
              </a:lnSpc>
              <a:buFont typeface="Arial"/>
              <a:buChar char="•"/>
            </a:pPr>
            <a:r>
              <a:rPr lang="en-US" sz="2518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In the end, he leaves the family and their settled life behind, choosing his freedom and the call of the open road over domestic security.</a:t>
            </a:r>
          </a:p>
          <a:p>
            <a:pPr algn="just">
              <a:lnSpc>
                <a:spcPts val="3525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25496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68577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3"/>
                </a:lnTo>
                <a:lnTo>
                  <a:pt x="0" y="6496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427" y="6923202"/>
            <a:ext cx="6984169" cy="5387434"/>
          </a:xfrm>
          <a:custGeom>
            <a:avLst/>
            <a:gdLst/>
            <a:ahLst/>
            <a:cxnLst/>
            <a:rect r="r" b="b" t="t" l="l"/>
            <a:pathLst>
              <a:path h="5387434" w="6984169">
                <a:moveTo>
                  <a:pt x="0" y="0"/>
                </a:moveTo>
                <a:lnTo>
                  <a:pt x="6984169" y="0"/>
                </a:lnTo>
                <a:lnTo>
                  <a:pt x="6984169" y="5387433"/>
                </a:lnTo>
                <a:lnTo>
                  <a:pt x="0" y="5387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676" r="0" b="-1786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728096">
            <a:off x="12161420" y="-145470"/>
            <a:ext cx="7993668" cy="5143500"/>
          </a:xfrm>
          <a:custGeom>
            <a:avLst/>
            <a:gdLst/>
            <a:ahLst/>
            <a:cxnLst/>
            <a:rect r="r" b="b" t="t" l="l"/>
            <a:pathLst>
              <a:path h="5143500" w="7993668">
                <a:moveTo>
                  <a:pt x="7993668" y="0"/>
                </a:moveTo>
                <a:lnTo>
                  <a:pt x="0" y="0"/>
                </a:lnTo>
                <a:lnTo>
                  <a:pt x="0" y="5143500"/>
                </a:lnTo>
                <a:lnTo>
                  <a:pt x="7993668" y="5143500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5"/>
            <a:stretch>
              <a:fillRect l="0" t="-16150" r="0" b="-7879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31658" y="1157949"/>
            <a:ext cx="12127555" cy="8458970"/>
          </a:xfrm>
          <a:custGeom>
            <a:avLst/>
            <a:gdLst/>
            <a:ahLst/>
            <a:cxnLst/>
            <a:rect r="r" b="b" t="t" l="l"/>
            <a:pathLst>
              <a:path h="8458970" w="12127555">
                <a:moveTo>
                  <a:pt x="0" y="0"/>
                </a:moveTo>
                <a:lnTo>
                  <a:pt x="12127555" y="0"/>
                </a:lnTo>
                <a:lnTo>
                  <a:pt x="12127555" y="8458969"/>
                </a:lnTo>
                <a:lnTo>
                  <a:pt x="0" y="8458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38522" y="4442826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1" y="0"/>
                </a:lnTo>
                <a:lnTo>
                  <a:pt x="2586271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6263" y="6923202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3"/>
                </a:lnTo>
                <a:lnTo>
                  <a:pt x="0" y="39560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73" t="0" r="-1117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80032" y="-430733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8" y="0"/>
                </a:lnTo>
                <a:lnTo>
                  <a:pt x="3861398" y="4350871"/>
                </a:lnTo>
                <a:lnTo>
                  <a:pt x="0" y="435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80032" y="6923202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2" y="0"/>
                </a:lnTo>
                <a:lnTo>
                  <a:pt x="3775352" y="2321841"/>
                </a:lnTo>
                <a:lnTo>
                  <a:pt x="0" y="23218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69263" y="513143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7" y="0"/>
                </a:lnTo>
                <a:lnTo>
                  <a:pt x="1094497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14" y="277407"/>
            <a:ext cx="2862449" cy="2934591"/>
          </a:xfrm>
          <a:custGeom>
            <a:avLst/>
            <a:gdLst/>
            <a:ahLst/>
            <a:cxnLst/>
            <a:rect r="r" b="b" t="t" l="l"/>
            <a:pathLst>
              <a:path h="2934591" w="2862449">
                <a:moveTo>
                  <a:pt x="0" y="0"/>
                </a:moveTo>
                <a:lnTo>
                  <a:pt x="2862449" y="0"/>
                </a:lnTo>
                <a:lnTo>
                  <a:pt x="2862449" y="2934591"/>
                </a:lnTo>
                <a:lnTo>
                  <a:pt x="0" y="29345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94684" y="1601876"/>
            <a:ext cx="8445584" cy="3479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60"/>
              </a:lnSpc>
            </a:pPr>
            <a:r>
              <a:rPr lang="en-US" sz="8204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Guest (Atithi)</a:t>
            </a:r>
          </a:p>
          <a:p>
            <a:pPr algn="ctr">
              <a:lnSpc>
                <a:spcPts val="8860"/>
              </a:lnSpc>
            </a:pPr>
            <a:r>
              <a:rPr lang="en-US" sz="8204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Connection to the Theme </a:t>
            </a:r>
          </a:p>
          <a:p>
            <a:pPr algn="ctr">
              <a:lnSpc>
                <a:spcPts val="886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424793" y="3824888"/>
            <a:ext cx="8726279" cy="579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0450" indent="-320225" lvl="1">
              <a:lnSpc>
                <a:spcPts val="4152"/>
              </a:lnSpc>
              <a:buFont typeface="Arial"/>
              <a:buChar char="•"/>
            </a:pPr>
            <a:r>
              <a:rPr lang="en-US" sz="2966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The Spirit of Freedom:</a:t>
            </a:r>
            <a:r>
              <a:rPr lang="en-US" sz="2966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 The story explores the idea that true fulfillment for some comes from independence rather than social expectations.</a:t>
            </a:r>
          </a:p>
          <a:p>
            <a:pPr algn="ctr" marL="640450" indent="-320225" lvl="1">
              <a:lnSpc>
                <a:spcPts val="4152"/>
              </a:lnSpc>
              <a:buFont typeface="Arial"/>
              <a:buChar char="•"/>
            </a:pPr>
            <a:r>
              <a:rPr lang="en-US" sz="2966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Defining Identity:</a:t>
            </a:r>
            <a:r>
              <a:rPr lang="en-US" sz="2966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 It teaches that an individual’s true nature cannot be confined by the desires of others, even when those desires are well-intentioned.</a:t>
            </a:r>
          </a:p>
          <a:p>
            <a:pPr algn="ctr">
              <a:lnSpc>
                <a:spcPts val="4152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25496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368577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3"/>
                </a:lnTo>
                <a:lnTo>
                  <a:pt x="0" y="6496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427" y="6923202"/>
            <a:ext cx="6984169" cy="5387434"/>
          </a:xfrm>
          <a:custGeom>
            <a:avLst/>
            <a:gdLst/>
            <a:ahLst/>
            <a:cxnLst/>
            <a:rect r="r" b="b" t="t" l="l"/>
            <a:pathLst>
              <a:path h="5387434" w="6984169">
                <a:moveTo>
                  <a:pt x="0" y="0"/>
                </a:moveTo>
                <a:lnTo>
                  <a:pt x="6984169" y="0"/>
                </a:lnTo>
                <a:lnTo>
                  <a:pt x="6984169" y="5387433"/>
                </a:lnTo>
                <a:lnTo>
                  <a:pt x="0" y="53874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676" r="0" b="-1786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728096">
            <a:off x="12135675" y="5512373"/>
            <a:ext cx="7993668" cy="5143500"/>
          </a:xfrm>
          <a:custGeom>
            <a:avLst/>
            <a:gdLst/>
            <a:ahLst/>
            <a:cxnLst/>
            <a:rect r="r" b="b" t="t" l="l"/>
            <a:pathLst>
              <a:path h="5143500" w="7993668">
                <a:moveTo>
                  <a:pt x="7993668" y="0"/>
                </a:moveTo>
                <a:lnTo>
                  <a:pt x="0" y="0"/>
                </a:lnTo>
                <a:lnTo>
                  <a:pt x="0" y="5143500"/>
                </a:lnTo>
                <a:lnTo>
                  <a:pt x="7993668" y="5143500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5"/>
            <a:stretch>
              <a:fillRect l="0" t="-16150" r="0" b="-7879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31658" y="1157949"/>
            <a:ext cx="12127555" cy="8458970"/>
          </a:xfrm>
          <a:custGeom>
            <a:avLst/>
            <a:gdLst/>
            <a:ahLst/>
            <a:cxnLst/>
            <a:rect r="r" b="b" t="t" l="l"/>
            <a:pathLst>
              <a:path h="8458970" w="12127555">
                <a:moveTo>
                  <a:pt x="0" y="0"/>
                </a:moveTo>
                <a:lnTo>
                  <a:pt x="12127555" y="0"/>
                </a:lnTo>
                <a:lnTo>
                  <a:pt x="12127555" y="8458969"/>
                </a:lnTo>
                <a:lnTo>
                  <a:pt x="0" y="8458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9073" y="4019472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0" y="0"/>
                </a:lnTo>
                <a:lnTo>
                  <a:pt x="2586270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91793" y="6782848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4"/>
                </a:lnTo>
                <a:lnTo>
                  <a:pt x="0" y="39560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73" t="0" r="-1117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48457" y="5908687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9" y="0"/>
                </a:lnTo>
                <a:lnTo>
                  <a:pt x="3861399" y="4350871"/>
                </a:lnTo>
                <a:lnTo>
                  <a:pt x="0" y="435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34503" y="1157949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3" y="0"/>
                </a:lnTo>
                <a:lnTo>
                  <a:pt x="3775353" y="2321841"/>
                </a:lnTo>
                <a:lnTo>
                  <a:pt x="0" y="23218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711964" y="3683936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7" y="0"/>
                </a:lnTo>
                <a:lnTo>
                  <a:pt x="1094497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0569" y="-438596"/>
            <a:ext cx="2862449" cy="2934591"/>
          </a:xfrm>
          <a:custGeom>
            <a:avLst/>
            <a:gdLst/>
            <a:ahLst/>
            <a:cxnLst/>
            <a:rect r="r" b="b" t="t" l="l"/>
            <a:pathLst>
              <a:path h="2934591" w="2862449">
                <a:moveTo>
                  <a:pt x="0" y="0"/>
                </a:moveTo>
                <a:lnTo>
                  <a:pt x="2862449" y="0"/>
                </a:lnTo>
                <a:lnTo>
                  <a:pt x="2862449" y="2934592"/>
                </a:lnTo>
                <a:lnTo>
                  <a:pt x="0" y="29345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483537" y="1856479"/>
            <a:ext cx="11228427" cy="126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4"/>
              </a:lnSpc>
            </a:pPr>
            <a:r>
              <a:rPr lang="en-US" sz="8337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Connection to SDG’s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83537" y="3957362"/>
            <a:ext cx="10967841" cy="480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5"/>
              </a:lnSpc>
            </a:pPr>
          </a:p>
          <a:p>
            <a:pPr algn="ctr" marL="1170759" indent="-390253" lvl="2">
              <a:lnSpc>
                <a:spcPts val="3795"/>
              </a:lnSpc>
              <a:buFont typeface="Arial"/>
              <a:buChar char="⚬"/>
            </a:pPr>
            <a:r>
              <a:rPr lang="en-US" sz="271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Literary Connection:</a:t>
            </a:r>
            <a:r>
              <a:rPr lang="en-US" sz="271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 These stories reflect the need to treat every person—whether a foreign fruit-seller like Rahamat or a displaced boy like Phatik—with respect and dignity.</a:t>
            </a:r>
          </a:p>
          <a:p>
            <a:pPr algn="ctr" marL="1170759" indent="-390253" lvl="2">
              <a:lnSpc>
                <a:spcPts val="3795"/>
              </a:lnSpc>
              <a:buFont typeface="Arial"/>
              <a:buChar char="⚬"/>
            </a:pPr>
            <a:r>
              <a:rPr lang="en-US" sz="271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Example:</a:t>
            </a:r>
            <a:r>
              <a:rPr lang="en-US" sz="271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 In </a:t>
            </a:r>
            <a:r>
              <a:rPr lang="en-US" sz="2711" i="true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Kabuliwallah</a:t>
            </a:r>
            <a:r>
              <a:rPr lang="en-US" sz="2711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, the narrator eventually recognizes the fruit-seller as a fellow father, reducing the social inequality between them through empathy.</a:t>
            </a:r>
          </a:p>
          <a:p>
            <a:pPr algn="ctr">
              <a:lnSpc>
                <a:spcPts val="379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483537" y="3132497"/>
            <a:ext cx="11228427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SDG 10 : Reduced Inequalities: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25496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06492" y="2318870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4"/>
                </a:lnTo>
                <a:lnTo>
                  <a:pt x="0" y="6496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75333" y="0"/>
            <a:ext cx="6984169" cy="5387434"/>
          </a:xfrm>
          <a:custGeom>
            <a:avLst/>
            <a:gdLst/>
            <a:ahLst/>
            <a:cxnLst/>
            <a:rect r="r" b="b" t="t" l="l"/>
            <a:pathLst>
              <a:path h="5387434" w="6984169">
                <a:moveTo>
                  <a:pt x="0" y="0"/>
                </a:moveTo>
                <a:lnTo>
                  <a:pt x="6984170" y="0"/>
                </a:lnTo>
                <a:lnTo>
                  <a:pt x="6984170" y="5387434"/>
                </a:lnTo>
                <a:lnTo>
                  <a:pt x="0" y="538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676" r="0" b="-1786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728096">
            <a:off x="10951392" y="6534641"/>
            <a:ext cx="7993668" cy="5143500"/>
          </a:xfrm>
          <a:custGeom>
            <a:avLst/>
            <a:gdLst/>
            <a:ahLst/>
            <a:cxnLst/>
            <a:rect r="r" b="b" t="t" l="l"/>
            <a:pathLst>
              <a:path h="5143500" w="7993668">
                <a:moveTo>
                  <a:pt x="7993668" y="0"/>
                </a:moveTo>
                <a:lnTo>
                  <a:pt x="0" y="0"/>
                </a:lnTo>
                <a:lnTo>
                  <a:pt x="0" y="5143500"/>
                </a:lnTo>
                <a:lnTo>
                  <a:pt x="7993668" y="5143500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5"/>
            <a:stretch>
              <a:fillRect l="0" t="-16150" r="0" b="-7879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31658" y="1157949"/>
            <a:ext cx="12127555" cy="8458970"/>
          </a:xfrm>
          <a:custGeom>
            <a:avLst/>
            <a:gdLst/>
            <a:ahLst/>
            <a:cxnLst/>
            <a:rect r="r" b="b" t="t" l="l"/>
            <a:pathLst>
              <a:path h="8458970" w="12127555">
                <a:moveTo>
                  <a:pt x="0" y="0"/>
                </a:moveTo>
                <a:lnTo>
                  <a:pt x="12127555" y="0"/>
                </a:lnTo>
                <a:lnTo>
                  <a:pt x="12127555" y="8458969"/>
                </a:lnTo>
                <a:lnTo>
                  <a:pt x="0" y="8458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655091" y="804502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0" y="0"/>
                </a:lnTo>
                <a:lnTo>
                  <a:pt x="2586270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47356" y="7280273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4"/>
                </a:lnTo>
                <a:lnTo>
                  <a:pt x="0" y="39560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173" t="0" r="-1117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60569" y="5567212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8" y="0"/>
                </a:lnTo>
                <a:lnTo>
                  <a:pt x="3861398" y="4350871"/>
                </a:lnTo>
                <a:lnTo>
                  <a:pt x="0" y="435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63230" y="4806522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2" y="0"/>
                </a:lnTo>
                <a:lnTo>
                  <a:pt x="3775352" y="2321842"/>
                </a:lnTo>
                <a:lnTo>
                  <a:pt x="0" y="2321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60988" y="792498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7" y="0"/>
                </a:lnTo>
                <a:lnTo>
                  <a:pt x="1094497" y="3406995"/>
                </a:lnTo>
                <a:lnTo>
                  <a:pt x="0" y="3406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5528" y="616961"/>
            <a:ext cx="2862449" cy="2934591"/>
          </a:xfrm>
          <a:custGeom>
            <a:avLst/>
            <a:gdLst/>
            <a:ahLst/>
            <a:cxnLst/>
            <a:rect r="r" b="b" t="t" l="l"/>
            <a:pathLst>
              <a:path h="2934591" w="2862449">
                <a:moveTo>
                  <a:pt x="0" y="0"/>
                </a:moveTo>
                <a:lnTo>
                  <a:pt x="2862449" y="0"/>
                </a:lnTo>
                <a:lnTo>
                  <a:pt x="2862449" y="2934591"/>
                </a:lnTo>
                <a:lnTo>
                  <a:pt x="0" y="29345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47977" y="1862749"/>
            <a:ext cx="9859998" cy="126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4"/>
              </a:lnSpc>
            </a:pPr>
            <a:r>
              <a:rPr lang="en-US" sz="8337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Connection to SDG’s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13469" y="4529091"/>
            <a:ext cx="10329012" cy="457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18989" indent="-309494" lvl="1">
              <a:lnSpc>
                <a:spcPts val="4013"/>
              </a:lnSpc>
              <a:buFont typeface="Arial"/>
              <a:buChar char="•"/>
            </a:pPr>
            <a:r>
              <a:rPr lang="en-US" sz="2867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Literary Connection:</a:t>
            </a:r>
            <a:r>
              <a:rPr lang="en-US" sz="2867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 Literature showcases the human aspect of ethics and the importance of inclusive societies.</a:t>
            </a:r>
          </a:p>
          <a:p>
            <a:pPr algn="ctr" marL="618989" indent="-309494" lvl="1">
              <a:lnSpc>
                <a:spcPts val="4013"/>
              </a:lnSpc>
              <a:buFont typeface="Arial"/>
              <a:buChar char="•"/>
            </a:pPr>
            <a:r>
              <a:rPr lang="en-US" sz="2867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Example:</a:t>
            </a:r>
            <a:r>
              <a:rPr lang="en-US" sz="2867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 </a:t>
            </a:r>
            <a:r>
              <a:rPr lang="en-US" sz="2867" i="true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Holiday</a:t>
            </a:r>
            <a:r>
              <a:rPr lang="en-US" sz="2867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 highlights the failure of domestic and educational "institutions" (the school and the uncle's home) to provide a safe, inclusive environment for a child, leading to a tragic outcome.</a:t>
            </a:r>
          </a:p>
          <a:p>
            <a:pPr algn="ctr">
              <a:lnSpc>
                <a:spcPts val="4013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529786" y="3298428"/>
            <a:ext cx="11228427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SDG 16: Peace , Justice &amp; Strong Institutions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25496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96168" y="-2706368"/>
            <a:ext cx="11246489" cy="6496684"/>
          </a:xfrm>
          <a:custGeom>
            <a:avLst/>
            <a:gdLst/>
            <a:ahLst/>
            <a:cxnLst/>
            <a:rect r="r" b="b" t="t" l="l"/>
            <a:pathLst>
              <a:path h="6496684" w="11246489">
                <a:moveTo>
                  <a:pt x="0" y="0"/>
                </a:moveTo>
                <a:lnTo>
                  <a:pt x="11246489" y="0"/>
                </a:lnTo>
                <a:lnTo>
                  <a:pt x="11246489" y="6496684"/>
                </a:lnTo>
                <a:lnTo>
                  <a:pt x="0" y="6496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2126" b="-2667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32518" y="3386926"/>
            <a:ext cx="3426782" cy="3513147"/>
          </a:xfrm>
          <a:custGeom>
            <a:avLst/>
            <a:gdLst/>
            <a:ahLst/>
            <a:cxnLst/>
            <a:rect r="r" b="b" t="t" l="l"/>
            <a:pathLst>
              <a:path h="3513147" w="3426782">
                <a:moveTo>
                  <a:pt x="0" y="0"/>
                </a:moveTo>
                <a:lnTo>
                  <a:pt x="3426782" y="0"/>
                </a:lnTo>
                <a:lnTo>
                  <a:pt x="3426782" y="3513148"/>
                </a:lnTo>
                <a:lnTo>
                  <a:pt x="0" y="35131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3527" y="7280273"/>
            <a:ext cx="2403550" cy="3956054"/>
          </a:xfrm>
          <a:custGeom>
            <a:avLst/>
            <a:gdLst/>
            <a:ahLst/>
            <a:cxnLst/>
            <a:rect r="r" b="b" t="t" l="l"/>
            <a:pathLst>
              <a:path h="3956054" w="2403550">
                <a:moveTo>
                  <a:pt x="0" y="0"/>
                </a:moveTo>
                <a:lnTo>
                  <a:pt x="2403550" y="0"/>
                </a:lnTo>
                <a:lnTo>
                  <a:pt x="2403550" y="3956054"/>
                </a:lnTo>
                <a:lnTo>
                  <a:pt x="0" y="39560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173" t="0" r="-11173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05062" y="-348711"/>
            <a:ext cx="8656542" cy="8107337"/>
          </a:xfrm>
          <a:custGeom>
            <a:avLst/>
            <a:gdLst/>
            <a:ahLst/>
            <a:cxnLst/>
            <a:rect r="r" b="b" t="t" l="l"/>
            <a:pathLst>
              <a:path h="8107337" w="8656542">
                <a:moveTo>
                  <a:pt x="0" y="0"/>
                </a:moveTo>
                <a:lnTo>
                  <a:pt x="8656542" y="0"/>
                </a:lnTo>
                <a:lnTo>
                  <a:pt x="8656542" y="8107337"/>
                </a:lnTo>
                <a:lnTo>
                  <a:pt x="0" y="81073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224" t="-24996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027096" y="541974"/>
            <a:ext cx="2586271" cy="1889215"/>
          </a:xfrm>
          <a:custGeom>
            <a:avLst/>
            <a:gdLst/>
            <a:ahLst/>
            <a:cxnLst/>
            <a:rect r="r" b="b" t="t" l="l"/>
            <a:pathLst>
              <a:path h="1889215" w="2586271">
                <a:moveTo>
                  <a:pt x="0" y="0"/>
                </a:moveTo>
                <a:lnTo>
                  <a:pt x="2586271" y="0"/>
                </a:lnTo>
                <a:lnTo>
                  <a:pt x="2586271" y="1889215"/>
                </a:lnTo>
                <a:lnTo>
                  <a:pt x="0" y="18892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6519736" y="5553343"/>
            <a:ext cx="7993668" cy="7409914"/>
          </a:xfrm>
          <a:custGeom>
            <a:avLst/>
            <a:gdLst/>
            <a:ahLst/>
            <a:cxnLst/>
            <a:rect r="r" b="b" t="t" l="l"/>
            <a:pathLst>
              <a:path h="7409914" w="7993668">
                <a:moveTo>
                  <a:pt x="7993668" y="0"/>
                </a:moveTo>
                <a:lnTo>
                  <a:pt x="0" y="0"/>
                </a:lnTo>
                <a:lnTo>
                  <a:pt x="0" y="7409914"/>
                </a:lnTo>
                <a:lnTo>
                  <a:pt x="7993668" y="7409914"/>
                </a:lnTo>
                <a:lnTo>
                  <a:pt x="7993668" y="0"/>
                </a:lnTo>
                <a:close/>
              </a:path>
            </a:pathLst>
          </a:custGeom>
          <a:blipFill>
            <a:blip r:embed="rId8"/>
            <a:stretch>
              <a:fillRect l="0" t="-35316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00205" y="5936129"/>
            <a:ext cx="3861398" cy="4350871"/>
          </a:xfrm>
          <a:custGeom>
            <a:avLst/>
            <a:gdLst/>
            <a:ahLst/>
            <a:cxnLst/>
            <a:rect r="r" b="b" t="t" l="l"/>
            <a:pathLst>
              <a:path h="4350871" w="3861398">
                <a:moveTo>
                  <a:pt x="0" y="0"/>
                </a:moveTo>
                <a:lnTo>
                  <a:pt x="3861399" y="0"/>
                </a:lnTo>
                <a:lnTo>
                  <a:pt x="3861399" y="4350871"/>
                </a:lnTo>
                <a:lnTo>
                  <a:pt x="0" y="43508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26782" y="792629"/>
            <a:ext cx="11600314" cy="9019244"/>
          </a:xfrm>
          <a:custGeom>
            <a:avLst/>
            <a:gdLst/>
            <a:ahLst/>
            <a:cxnLst/>
            <a:rect r="r" b="b" t="t" l="l"/>
            <a:pathLst>
              <a:path h="9019244" w="11600314">
                <a:moveTo>
                  <a:pt x="0" y="0"/>
                </a:moveTo>
                <a:lnTo>
                  <a:pt x="11600314" y="0"/>
                </a:lnTo>
                <a:lnTo>
                  <a:pt x="11600314" y="9019244"/>
                </a:lnTo>
                <a:lnTo>
                  <a:pt x="0" y="90192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1185" y="3386926"/>
            <a:ext cx="1094497" cy="3406995"/>
          </a:xfrm>
          <a:custGeom>
            <a:avLst/>
            <a:gdLst/>
            <a:ahLst/>
            <a:cxnLst/>
            <a:rect r="r" b="b" t="t" l="l"/>
            <a:pathLst>
              <a:path h="3406995" w="1094497">
                <a:moveTo>
                  <a:pt x="0" y="0"/>
                </a:moveTo>
                <a:lnTo>
                  <a:pt x="1094497" y="0"/>
                </a:lnTo>
                <a:lnTo>
                  <a:pt x="1094497" y="3406996"/>
                </a:lnTo>
                <a:lnTo>
                  <a:pt x="0" y="34069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39401" y="0"/>
            <a:ext cx="3775352" cy="2321842"/>
          </a:xfrm>
          <a:custGeom>
            <a:avLst/>
            <a:gdLst/>
            <a:ahLst/>
            <a:cxnLst/>
            <a:rect r="r" b="b" t="t" l="l"/>
            <a:pathLst>
              <a:path h="2321842" w="3775352">
                <a:moveTo>
                  <a:pt x="0" y="0"/>
                </a:moveTo>
                <a:lnTo>
                  <a:pt x="3775352" y="0"/>
                </a:lnTo>
                <a:lnTo>
                  <a:pt x="3775352" y="2321842"/>
                </a:lnTo>
                <a:lnTo>
                  <a:pt x="0" y="23218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00565" y="4133999"/>
            <a:ext cx="6852748" cy="180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2000">
                <a:solidFill>
                  <a:srgbClr val="3D3125"/>
                </a:solidFill>
                <a:latin typeface="Vintage Goods"/>
                <a:ea typeface="Vintage Goods"/>
                <a:cs typeface="Vintage Goods"/>
                <a:sym typeface="Vintage Goods"/>
              </a:rPr>
              <a:t>Thank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72703" y="5850404"/>
            <a:ext cx="7708472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D3125"/>
                </a:solidFill>
                <a:latin typeface="Vintage Smooth"/>
                <a:ea typeface="Vintage Smooth"/>
                <a:cs typeface="Vintage Smooth"/>
                <a:sym typeface="Vintage Smooth"/>
              </a:rPr>
              <a:t>Presented By : TEAM FOUR.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254969" y="2254469"/>
            <a:ext cx="5778062" cy="5778062"/>
          </a:xfrm>
          <a:custGeom>
            <a:avLst/>
            <a:gdLst/>
            <a:ahLst/>
            <a:cxnLst/>
            <a:rect r="r" b="b" t="t" l="l"/>
            <a:pathLst>
              <a:path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9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DAHGWZjk7iw</dc:identifier>
  <dcterms:modified xsi:type="dcterms:W3CDTF">2011-08-01T06:04:30Z</dcterms:modified>
  <cp:revision>1</cp:revision>
  <dc:title>English PBL</dc:title>
</cp:coreProperties>
</file>