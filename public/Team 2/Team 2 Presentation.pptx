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66" r:id="rId3"/>
    <p:sldId id="264" r:id="rId4"/>
    <p:sldId id="257" r:id="rId5"/>
    <p:sldId id="258" r:id="rId6"/>
    <p:sldId id="259" r:id="rId7"/>
    <p:sldId id="262" r:id="rId8"/>
    <p:sldId id="263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333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279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04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814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14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021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3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99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47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91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998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9AEAF-A65F-499C-9D5B-3EBF57CDF7A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44EA0D6-3872-40E5-9768-44D94FAA2D5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60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DE20-CB44-EB19-736E-0259FA95B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THE HOUSEWIFE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1743A-5975-C38A-C581-FBF695E1EB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Rabindranath Tagore</a:t>
            </a:r>
          </a:p>
        </p:txBody>
      </p:sp>
    </p:spTree>
    <p:extLst>
      <p:ext uri="{BB962C8B-B14F-4D97-AF65-F5344CB8AC3E}">
        <p14:creationId xmlns:p14="http://schemas.microsoft.com/office/powerpoint/2010/main" val="274627433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8B012-7778-2BE8-749F-79CC2DE9B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members:-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17674-825A-C48A-2236-CF501C06E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RA2511003011022 – SHIVANSH</a:t>
            </a:r>
          </a:p>
          <a:p>
            <a:r>
              <a:rPr lang="en-IN" dirty="0"/>
              <a:t>RA2511003011032 -  P.YASWANTH GANESH</a:t>
            </a:r>
          </a:p>
          <a:p>
            <a:r>
              <a:rPr lang="en-IN" dirty="0"/>
              <a:t>RA2511003011042 -  LOGITH</a:t>
            </a:r>
          </a:p>
          <a:p>
            <a:r>
              <a:rPr lang="en-IN" dirty="0"/>
              <a:t>RA2511003011052 -  RUDRANSH AVI</a:t>
            </a:r>
          </a:p>
          <a:p>
            <a:r>
              <a:rPr lang="en-IN" dirty="0"/>
              <a:t>RA2511003011062 -  NIRMAL .R</a:t>
            </a:r>
          </a:p>
          <a:p>
            <a:r>
              <a:rPr lang="en-IN" dirty="0"/>
              <a:t>RA2511003011072 -  ATREYEE BARICK</a:t>
            </a:r>
          </a:p>
          <a:p>
            <a:r>
              <a:rPr lang="en-IN" dirty="0"/>
              <a:t>RA2511003011082 -  SRI NANDA</a:t>
            </a:r>
          </a:p>
        </p:txBody>
      </p:sp>
    </p:spTree>
    <p:extLst>
      <p:ext uri="{BB962C8B-B14F-4D97-AF65-F5344CB8AC3E}">
        <p14:creationId xmlns:p14="http://schemas.microsoft.com/office/powerpoint/2010/main" val="897084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BC82-9103-8983-B306-8AFDA2A83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70096-3BC3-7E50-94B5-54D6301F4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The story centers on </a:t>
            </a:r>
            <a:r>
              <a:rPr lang="en-US" b="1"/>
              <a:t>Shibnath</a:t>
            </a:r>
            <a:r>
              <a:rPr lang="en-US"/>
              <a:t>, a tyrannical schoolteacher who maintains control through a "pedagogy of terror," using both physical violence and a devastating "special weapon": the public distortion of his students' names to incite shame. His favorite victim is </a:t>
            </a:r>
            <a:r>
              <a:rPr lang="en-US" b="1"/>
              <a:t>Ashu</a:t>
            </a:r>
            <a:r>
              <a:rPr lang="en-US"/>
              <a:t>, a shy, academically gifted, and intensely private boy who strives to keep his vulnerable domestic life hidden from the cold, judgmental eyes of the school. One day, after Ashu arrives late following a holiday, Shibnath publicly "rechristens" him with the feminine title </a:t>
            </a:r>
            <a:r>
              <a:rPr lang="en-US" b="1"/>
              <a:t>"Ginni"</a:t>
            </a:r>
            <a:r>
              <a:rPr lang="en-US"/>
              <a:t> (Housewife), revealing to the entire laughing class that the boy had been seen playing house with dolls at home. By weaponizing this gendered stereotype, Shibnath doesn't just punish a late student; he deliberately strips Ashu of his dignity and "breaks" his spirit by turning his innocent, private identity into a source of permanent, institutionalized ridicule.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3012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01AA78-A116-596C-2D38-EB4B2D59F208}"/>
              </a:ext>
            </a:extLst>
          </p:cNvPr>
          <p:cNvSpPr/>
          <p:nvPr/>
        </p:nvSpPr>
        <p:spPr>
          <a:xfrm>
            <a:off x="1819373" y="933254"/>
            <a:ext cx="7918516" cy="11312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/>
              <a:t>THEME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46CB3-746D-16A7-2D34-F435BF230251}"/>
              </a:ext>
            </a:extLst>
          </p:cNvPr>
          <p:cNvSpPr txBox="1"/>
          <p:nvPr/>
        </p:nvSpPr>
        <p:spPr>
          <a:xfrm>
            <a:off x="2017336" y="3044858"/>
            <a:ext cx="8276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Institutionalized Gender-Based Shaming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F5D1C-AEBD-1D21-836F-4FDEDB640336}"/>
              </a:ext>
            </a:extLst>
          </p:cNvPr>
          <p:cNvSpPr txBox="1"/>
          <p:nvPr/>
        </p:nvSpPr>
        <p:spPr>
          <a:xfrm>
            <a:off x="2017336" y="3827282"/>
            <a:ext cx="7550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</a:rPr>
              <a:t>This theme describes how a formal system (the school) uses social prejudices (gender stereotypes) as a tool to control and "break" a child's spirit. It isn't just about a mean teacher, and it isn't just about dolls; it is about how </a:t>
            </a:r>
            <a:r>
              <a:rPr lang="en-US" b="1" dirty="0">
                <a:effectLst/>
              </a:rPr>
              <a:t>education is used to force children into narrow social boxes through humiliation.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0979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81FF9-836D-0D35-B6EE-ADFA503B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 School as a "Soul-Crushing" Factory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E22B-20E3-ACF0-56B1-83A23594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this theme, the school is not a place of growth, but a place of </a:t>
            </a:r>
            <a:r>
              <a:rPr lang="en-US" b="1" dirty="0"/>
              <a:t>standardization</a:t>
            </a:r>
            <a:r>
              <a:rPr lang="en-US" dirty="0"/>
              <a:t>. Shivanath Babu represents the "Traditional Pedagogy" where the goal is to produce "disciplined men," not happy children.</a:t>
            </a:r>
          </a:p>
          <a:p>
            <a:r>
              <a:rPr lang="en-US" b="1" dirty="0"/>
              <a:t>The Erasure of the Individual:</a:t>
            </a:r>
            <a:r>
              <a:rPr lang="en-US" dirty="0"/>
              <a:t> To Shivanath, Ashu’s personality—his shyness, his gentleness, his love for play—is a defect. The school system treats any deviation from the "stern, silent student" archetype as a failure.</a:t>
            </a:r>
          </a:p>
          <a:p>
            <a:r>
              <a:rPr lang="en-US" b="1" dirty="0"/>
              <a:t>The Pedagogy of Humiliation:</a:t>
            </a:r>
            <a:r>
              <a:rPr lang="en-US" dirty="0"/>
              <a:t> The teacher doesn’t use logic or discipline; he uses </a:t>
            </a:r>
            <a:r>
              <a:rPr lang="en-US" b="1" dirty="0"/>
              <a:t>public exposure</a:t>
            </a:r>
            <a:r>
              <a:rPr lang="en-US" dirty="0"/>
              <a:t>. By shaming Ashu in front of the class, he enlists the other students as "mini-enforcers," turning the entire peer group against the victim.</a:t>
            </a:r>
          </a:p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422545"/>
      </p:ext>
    </p:extLst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20E6-9FC0-C052-1788-D6A437AA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Gender as the Weapon: The "Ginni" Label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A3F9B5-D3C2-CEFD-455D-041579D55A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7253" y="1875613"/>
            <a:ext cx="10515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Weaponizing the Domestic: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patriarchal society of the story, the "domestic sphere" (the home, the kitchen, playing with dolls) is seen as inferior. By calling a boy a "Housewife," the teacher is saying: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"You have lost your status as a male. You have been demoted to the rank of the 'servant' or the 'inferior'."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Stigma of Femininity: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Shivanath knows that for a young boy in that era, there is no greater insult than being "feminine." He uses the society’s existing prejudice against women’s roles to "break" Ashu’s spirit.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Death of Creativity: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Ashu playing with his sister wasn't just "playing"; it was an act of imaginative empathy. By labeling it "Ginni," Shivanath turns a beautiful, creative act into something "dirty" and "shameful."</a:t>
            </a:r>
          </a:p>
        </p:txBody>
      </p:sp>
    </p:spTree>
    <p:extLst>
      <p:ext uri="{BB962C8B-B14F-4D97-AF65-F5344CB8AC3E}">
        <p14:creationId xmlns:p14="http://schemas.microsoft.com/office/powerpoint/2010/main" val="2818110093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62CC0-391B-21C8-40AD-B454C752D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SDG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D74F8-7AA9-B2C9-BDDD-819FD125D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SDG 4: Quality Education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895E6-D3F4-4887-215D-24B8AA2EBC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>
                <a:effectLst/>
              </a:rPr>
              <a:t>The Target:</a:t>
            </a:r>
            <a:r>
              <a:rPr lang="en-US" dirty="0">
                <a:effectLst/>
              </a:rPr>
              <a:t> Ensure inclusive and equitable quality education and promote lifelong learning.</a:t>
            </a:r>
            <a:endParaRPr lang="en-US" dirty="0"/>
          </a:p>
          <a:p>
            <a:r>
              <a:rPr lang="en-US" b="1" dirty="0"/>
              <a:t>The Conflict:</a:t>
            </a:r>
            <a:r>
              <a:rPr lang="en-US" dirty="0"/>
              <a:t> Shivanath’s "pedagogy of shame" is the antithesis of Quality Education. SDG 4 isn't just about literacy; it’s about a </a:t>
            </a:r>
            <a:r>
              <a:rPr lang="en-US" b="1" dirty="0"/>
              <a:t>safe and non-violent learning environment</a:t>
            </a:r>
            <a:r>
              <a:rPr lang="en-US" dirty="0"/>
              <a:t>.</a:t>
            </a:r>
          </a:p>
          <a:p>
            <a:r>
              <a:rPr lang="en-US" b="1" dirty="0"/>
              <a:t>The Argument:</a:t>
            </a:r>
            <a:r>
              <a:rPr lang="en-US" dirty="0"/>
              <a:t> In your presentation, argue that "Quality Education" cannot exist where </a:t>
            </a:r>
            <a:r>
              <a:rPr lang="en-US" b="1" dirty="0"/>
              <a:t>humiliation</a:t>
            </a:r>
            <a:r>
              <a:rPr lang="en-US" dirty="0"/>
              <a:t> is a teaching tool. When a school uses gender stereotypes to "break" a student, it violates the fundamental right to a child-centered education.</a:t>
            </a:r>
          </a:p>
          <a:p>
            <a:r>
              <a:rPr lang="en-US" b="1" dirty="0">
                <a:effectLst/>
              </a:rPr>
              <a:t>Key Phrase for Presentation:</a:t>
            </a:r>
            <a:r>
              <a:rPr lang="en-US" dirty="0"/>
              <a:t> </a:t>
            </a:r>
            <a:r>
              <a:rPr lang="en-US" i="1" dirty="0">
                <a:effectLst/>
              </a:rPr>
              <a:t>"Education should be a ladder for the soul, not a cage for the spirit."</a:t>
            </a:r>
            <a:endParaRPr lang="en-US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BD793-915E-34BF-2FAF-2C687A8EA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2. SDG 5: Gender Equality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563B6-1536-AE03-A94B-8F161689E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752707" cy="368458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The Target:</a:t>
            </a:r>
            <a:r>
              <a:rPr lang="en-US" dirty="0"/>
              <a:t> Eliminate all forms of discrimination and harmful practices against all women and girls (and by extension, gender-based stereotypes).</a:t>
            </a:r>
          </a:p>
          <a:p>
            <a:r>
              <a:rPr lang="en-US" b="1" dirty="0"/>
              <a:t>The Link:</a:t>
            </a:r>
            <a:r>
              <a:rPr lang="en-US" dirty="0"/>
              <a:t> While SDG 5 often focuses on the rights of women, your theme highlights the </a:t>
            </a:r>
            <a:r>
              <a:rPr lang="en-US" b="1" dirty="0"/>
              <a:t>root cause</a:t>
            </a:r>
            <a:r>
              <a:rPr lang="en-US" dirty="0"/>
              <a:t>: the societal devaluation of the "feminine."</a:t>
            </a:r>
          </a:p>
          <a:p>
            <a:r>
              <a:rPr lang="en-US" b="1" dirty="0"/>
              <a:t>The Argument:</a:t>
            </a:r>
            <a:r>
              <a:rPr lang="en-US" dirty="0"/>
              <a:t> Shivanath uses "Ginni" (Housewife) as a slur. This proves that gender inequality starts by teaching children that </a:t>
            </a:r>
            <a:r>
              <a:rPr lang="en-US" b="1" dirty="0"/>
              <a:t>femininity is a source of shame</a:t>
            </a:r>
            <a:r>
              <a:rPr lang="en-US" dirty="0"/>
              <a:t>. By shaming a boy for "domestic play," the institution reinforces the idea that women’s roles are inferior. To achieve SDG 5, we must stop using "gender" as a weapon of demotion.</a:t>
            </a:r>
          </a:p>
          <a:p>
            <a:r>
              <a:rPr lang="en-US" b="1" dirty="0">
                <a:effectLst/>
              </a:rPr>
              <a:t>Key Phrase for Presentation:</a:t>
            </a:r>
            <a:r>
              <a:rPr lang="en-US" dirty="0"/>
              <a:t> </a:t>
            </a:r>
            <a:r>
              <a:rPr lang="en-US" i="1" dirty="0">
                <a:effectLst/>
              </a:rPr>
              <a:t>"We cannot achieve gender equality as long as we use 'femininity' as a tool for humiliation."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9462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B7D99-EEC2-77BA-A4BA-E0689B7EA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E5840-AFAA-640D-91BE-5EA895C19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SDG 10: Reduced Inequalities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BDA1A-A7E9-2BC0-6382-351E4BE529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The Target:</a:t>
            </a:r>
            <a:r>
              <a:rPr lang="en-US" dirty="0"/>
              <a:t> Empower and promote the social, economic, and political inclusion of all, irrespective of age, sex, or disability.</a:t>
            </a:r>
          </a:p>
          <a:p>
            <a:r>
              <a:rPr lang="en-US" b="1" dirty="0"/>
              <a:t>The Link:</a:t>
            </a:r>
            <a:r>
              <a:rPr lang="en-US" dirty="0"/>
              <a:t> This goal tackles the "Social Boxes" you mentioned. Institutionalized shaming creates </a:t>
            </a:r>
            <a:r>
              <a:rPr lang="en-US" b="1" dirty="0"/>
              <a:t>hierarchies of worth</a:t>
            </a:r>
            <a:r>
              <a:rPr lang="en-US" dirty="0"/>
              <a:t>.</a:t>
            </a:r>
          </a:p>
          <a:p>
            <a:r>
              <a:rPr lang="en-US" b="1" dirty="0"/>
              <a:t>The Argument:</a:t>
            </a:r>
            <a:r>
              <a:rPr lang="en-US" dirty="0"/>
              <a:t> The school functions as a "factory" for inequality. By shaming the "weak" or "sensitive" child, the institution prepares them for a lifetime of exclusion. Reduced inequality starts with </a:t>
            </a:r>
            <a:r>
              <a:rPr lang="en-US" b="1" dirty="0"/>
              <a:t>institutional empathy</a:t>
            </a:r>
            <a:r>
              <a:rPr lang="en-US" dirty="0"/>
              <a:t>—allowing children to exist outside of rigid, binary social boxes.</a:t>
            </a:r>
          </a:p>
          <a:p>
            <a:r>
              <a:rPr lang="en-US" b="1" dirty="0">
                <a:effectLst/>
              </a:rPr>
              <a:t>Key Phrase for Presentation:</a:t>
            </a:r>
            <a:r>
              <a:rPr lang="en-US" dirty="0"/>
              <a:t> </a:t>
            </a:r>
            <a:r>
              <a:rPr lang="en-US" i="1" dirty="0">
                <a:effectLst/>
              </a:rPr>
              <a:t>"Inequality begins in the classroom when we teach children that there is only one 'correct' way to be human."</a:t>
            </a:r>
            <a:endParaRPr lang="en-US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7FB278-B7B2-4D62-F148-7E3A7CB94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3A3DA3-1DF6-6B0A-9328-63F82D4D1A2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55000" lnSpcReduction="2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742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17F3-80C5-E17F-9EB3-1682EA41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27B06-3CCC-DF99-F99D-E28EBCB8D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"Shivanath Babu didn't just teach Ashu a lesson; he committed an act of </a:t>
            </a:r>
            <a:r>
              <a:rPr lang="en-US" b="1" dirty="0">
                <a:effectLst/>
              </a:rPr>
              <a:t>Institutionalized Violence</a:t>
            </a:r>
            <a:r>
              <a:rPr lang="en-US" dirty="0">
                <a:effectLst/>
              </a:rPr>
              <a:t>. He used the 'shame of the feminine' to murder the 'spirit of the child.' The tragedy of </a:t>
            </a:r>
            <a:r>
              <a:rPr lang="en-US" i="1" dirty="0">
                <a:effectLst/>
              </a:rPr>
              <a:t>Ginni</a:t>
            </a:r>
            <a:r>
              <a:rPr lang="en-US" dirty="0">
                <a:effectLst/>
              </a:rPr>
              <a:t> is not that a boy was teased, but that a formal institution used the worst prejudices of society to destroy a child's sense of self-worth."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0016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303B-3FF6-0513-DC4B-E3C771A6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239" y="358219"/>
            <a:ext cx="8359064" cy="3285861"/>
          </a:xfrm>
        </p:spPr>
        <p:txBody>
          <a:bodyPr>
            <a:normAutofit/>
          </a:bodyPr>
          <a:lstStyle/>
          <a:p>
            <a:r>
              <a:rPr lang="en-IN" sz="5400" dirty="0"/>
              <a:t>         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2A71A-3ABF-51D5-8722-35F4B0569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495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66</TotalTime>
  <Words>1062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THE HOUSEWIFE</vt:lpstr>
      <vt:lpstr>Group members:-</vt:lpstr>
      <vt:lpstr>Summary</vt:lpstr>
      <vt:lpstr>PowerPoint Presentation</vt:lpstr>
      <vt:lpstr>1. The School as a "Soul-Crushing" Factory</vt:lpstr>
      <vt:lpstr>2. Gender as the Weapon: The "Ginni" Label</vt:lpstr>
      <vt:lpstr>SDG</vt:lpstr>
      <vt:lpstr>PowerPoint Presentation</vt:lpstr>
      <vt:lpstr>Conclusion</vt:lpstr>
      <vt:lpstr>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Atreyee Barick</dc:creator>
  <cp:lastModifiedBy>Pavithran C</cp:lastModifiedBy>
  <cp:revision>2</cp:revision>
  <dcterms:created xsi:type="dcterms:W3CDTF">2026-03-16T07:29:15Z</dcterms:created>
  <dcterms:modified xsi:type="dcterms:W3CDTF">2026-04-06T04:28:36Z</dcterms:modified>
</cp:coreProperties>
</file>