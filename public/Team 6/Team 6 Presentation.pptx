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type="screen16x9"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6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EE"/>
        </a:solid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0" y="0"/>
            <a:ext cx="137160" cy="86868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578" name="Text 4"/>
          <p:cNvSpPr/>
          <p:nvPr/>
        </p:nvSpPr>
        <p:spPr>
          <a:xfrm>
            <a:off x="274320" y="54864"/>
            <a:ext cx="7315200" cy="475488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4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— About the Author</a:t>
            </a:r>
            <a:endParaRPr dirty="0" sz="2400" lang="en-US"/>
          </a:p>
        </p:txBody>
      </p:sp>
      <p:sp>
        <p:nvSpPr>
          <p:cNvPr id="1048579" name="Shape 5"/>
          <p:cNvSpPr/>
          <p:nvPr/>
        </p:nvSpPr>
        <p:spPr>
          <a:xfrm>
            <a:off x="365760" y="1005840"/>
            <a:ext cx="3840480" cy="356616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580" name="Text 6"/>
          <p:cNvSpPr/>
          <p:nvPr/>
        </p:nvSpPr>
        <p:spPr>
          <a:xfrm>
            <a:off x="502920" y="1097280"/>
            <a:ext cx="35661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MULK RAJ ANAND</a:t>
            </a:r>
            <a:endParaRPr dirty="0" sz="1800" lang="en-US"/>
          </a:p>
        </p:txBody>
      </p:sp>
      <p:sp>
        <p:nvSpPr>
          <p:cNvPr id="1048581" name="Text 7"/>
          <p:cNvSpPr/>
          <p:nvPr/>
        </p:nvSpPr>
        <p:spPr>
          <a:xfrm>
            <a:off x="502920" y="1572768"/>
            <a:ext cx="35661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i="1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1905 – 2004</a:t>
            </a:r>
            <a:endParaRPr dirty="0" sz="1300" lang="en-US"/>
          </a:p>
        </p:txBody>
      </p:sp>
      <p:sp>
        <p:nvSpPr>
          <p:cNvPr id="1048582" name="Shape 8"/>
          <p:cNvSpPr/>
          <p:nvPr/>
        </p:nvSpPr>
        <p:spPr>
          <a:xfrm>
            <a:off x="502920" y="1938528"/>
            <a:ext cx="3200400" cy="36576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583" name="Text 9"/>
          <p:cNvSpPr/>
          <p:nvPr/>
        </p:nvSpPr>
        <p:spPr>
          <a:xfrm>
            <a:off x="502920" y="2057400"/>
            <a:ext cx="3566160" cy="2377440"/>
          </a:xfrm>
          <a:prstGeom prst="rect"/>
          <a:noFill/>
        </p:spPr>
        <p:txBody>
          <a:bodyPr anchor="ctr" rtlCol="0" wrap="square"/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25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of Indian writing in English</a:t>
            </a:r>
            <a:endParaRPr dirty="0" sz="125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25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voice to the poor, workers &amp; marginalised</a:t>
            </a:r>
            <a:endParaRPr dirty="0" sz="125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25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emotions, dignity &amp; inner lives</a:t>
            </a:r>
            <a:endParaRPr dirty="0" sz="125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25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are simple on the surface — but carry deep meaning about human existence</a:t>
            </a:r>
            <a:endParaRPr dirty="0" sz="1250" lang="en-US"/>
          </a:p>
        </p:txBody>
      </p:sp>
      <p:sp>
        <p:nvSpPr>
          <p:cNvPr id="1048584" name="Shape 24"/>
          <p:cNvSpPr/>
          <p:nvPr/>
        </p:nvSpPr>
        <p:spPr>
          <a:xfrm>
            <a:off x="0" y="4800600"/>
            <a:ext cx="9144000" cy="342900"/>
          </a:xfrm>
          <a:prstGeom prst="rect"/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1048585" name="Text 25"/>
          <p:cNvSpPr/>
          <p:nvPr/>
        </p:nvSpPr>
        <p:spPr>
          <a:xfrm>
            <a:off x="274320" y="4818888"/>
            <a:ext cx="85953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Mulk Raj Anand  ·  The Weight of the Ordinary  ·  English PBL</a:t>
            </a:r>
            <a:endParaRPr dirty="0" sz="1000" lang="en-US"/>
          </a:p>
        </p:txBody>
      </p:sp>
      <p:pic>
        <p:nvPicPr>
          <p:cNvPr id="2097152" name="Picture 2" descr="Mulk Raj Anand | Open Library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5337377" y="1055980"/>
            <a:ext cx="2540529" cy="3465880"/>
          </a:xfrm>
          <a:prstGeom prst="rect"/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E"/>
        </a:solidFill>
        <a:effectLst/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590" name="Shape 1"/>
          <p:cNvSpPr/>
          <p:nvPr/>
        </p:nvSpPr>
        <p:spPr>
          <a:xfrm>
            <a:off x="0" y="0"/>
            <a:ext cx="137160" cy="86868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591" name="Text 4"/>
          <p:cNvSpPr/>
          <p:nvPr/>
        </p:nvSpPr>
        <p:spPr>
          <a:xfrm>
            <a:off x="274320" y="54864"/>
            <a:ext cx="7315200" cy="475488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4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Chose Him</a:t>
            </a:r>
            <a:endParaRPr dirty="0" sz="2400" lang="en-US"/>
          </a:p>
        </p:txBody>
      </p:sp>
      <p:sp>
        <p:nvSpPr>
          <p:cNvPr id="1048592" name="Text 5"/>
          <p:cNvSpPr/>
          <p:nvPr/>
        </p:nvSpPr>
        <p:spPr>
          <a:xfrm>
            <a:off x="365760" y="1005840"/>
            <a:ext cx="841248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500" i="1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Mulk Raj Anand because his writing focuses on ordinary life — not extraordinary events.</a:t>
            </a:r>
            <a:endParaRPr dirty="0" sz="1500" lang="en-US"/>
          </a:p>
        </p:txBody>
      </p:sp>
      <p:sp>
        <p:nvSpPr>
          <p:cNvPr id="1048593" name="Text 6"/>
          <p:cNvSpPr/>
          <p:nvPr/>
        </p:nvSpPr>
        <p:spPr>
          <a:xfrm>
            <a:off x="365760" y="1508760"/>
            <a:ext cx="84124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doesn't talk about wars or revolutions. Instead, he shows how small, everyday moments can completely change a person's life.</a:t>
            </a:r>
            <a:endParaRPr dirty="0" sz="1350" lang="en-US"/>
          </a:p>
        </p:txBody>
      </p:sp>
      <p:sp>
        <p:nvSpPr>
          <p:cNvPr id="1048594" name="Shape 7"/>
          <p:cNvSpPr/>
          <p:nvPr/>
        </p:nvSpPr>
        <p:spPr>
          <a:xfrm>
            <a:off x="365760" y="2148840"/>
            <a:ext cx="2651760" cy="228600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595" name="Shape 8"/>
          <p:cNvSpPr/>
          <p:nvPr/>
        </p:nvSpPr>
        <p:spPr>
          <a:xfrm>
            <a:off x="365760" y="2148840"/>
            <a:ext cx="2651760" cy="54864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596" name="Text 9"/>
          <p:cNvSpPr/>
          <p:nvPr/>
        </p:nvSpPr>
        <p:spPr>
          <a:xfrm>
            <a:off x="365760" y="2148840"/>
            <a:ext cx="26517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2B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</a:t>
            </a:r>
            <a:endParaRPr dirty="0" sz="1800" lang="en-US"/>
          </a:p>
        </p:txBody>
      </p:sp>
      <p:sp>
        <p:nvSpPr>
          <p:cNvPr id="1048597" name="Text 10"/>
          <p:cNvSpPr/>
          <p:nvPr/>
        </p:nvSpPr>
        <p:spPr>
          <a:xfrm>
            <a:off x="548640" y="2834640"/>
            <a:ext cx="2286000" cy="1463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always happen dramatically</a:t>
            </a:r>
            <a:endParaRPr dirty="0" sz="1400" lang="en-US"/>
          </a:p>
        </p:txBody>
      </p:sp>
      <p:sp>
        <p:nvSpPr>
          <p:cNvPr id="1048598" name="Shape 11"/>
          <p:cNvSpPr/>
          <p:nvPr/>
        </p:nvSpPr>
        <p:spPr>
          <a:xfrm>
            <a:off x="3246120" y="2148840"/>
            <a:ext cx="2651760" cy="228600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599" name="Shape 12"/>
          <p:cNvSpPr/>
          <p:nvPr/>
        </p:nvSpPr>
        <p:spPr>
          <a:xfrm>
            <a:off x="3246120" y="2148840"/>
            <a:ext cx="2651760" cy="54864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600" name="Text 13"/>
          <p:cNvSpPr/>
          <p:nvPr/>
        </p:nvSpPr>
        <p:spPr>
          <a:xfrm>
            <a:off x="3246120" y="2148840"/>
            <a:ext cx="26517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2B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</a:t>
            </a:r>
            <a:endParaRPr dirty="0" sz="1800" lang="en-US"/>
          </a:p>
        </p:txBody>
      </p:sp>
      <p:sp>
        <p:nvSpPr>
          <p:cNvPr id="1048601" name="Text 14"/>
          <p:cNvSpPr/>
          <p:nvPr/>
        </p:nvSpPr>
        <p:spPr>
          <a:xfrm>
            <a:off x="3429000" y="2834640"/>
            <a:ext cx="2286000" cy="1463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often silent</a:t>
            </a:r>
            <a:endParaRPr dirty="0" sz="1400" lang="en-US"/>
          </a:p>
        </p:txBody>
      </p:sp>
      <p:sp>
        <p:nvSpPr>
          <p:cNvPr id="1048602" name="Shape 15"/>
          <p:cNvSpPr/>
          <p:nvPr/>
        </p:nvSpPr>
        <p:spPr>
          <a:xfrm>
            <a:off x="6126480" y="2148840"/>
            <a:ext cx="2651760" cy="228600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03" name="Shape 16"/>
          <p:cNvSpPr/>
          <p:nvPr/>
        </p:nvSpPr>
        <p:spPr>
          <a:xfrm>
            <a:off x="6126480" y="2148840"/>
            <a:ext cx="2651760" cy="54864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604" name="Text 17"/>
          <p:cNvSpPr/>
          <p:nvPr/>
        </p:nvSpPr>
        <p:spPr>
          <a:xfrm>
            <a:off x="6126480" y="2148840"/>
            <a:ext cx="26517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2B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</a:t>
            </a:r>
            <a:endParaRPr dirty="0" sz="1800" lang="en-US"/>
          </a:p>
        </p:txBody>
      </p:sp>
      <p:sp>
        <p:nvSpPr>
          <p:cNvPr id="1048605" name="Text 18"/>
          <p:cNvSpPr/>
          <p:nvPr/>
        </p:nvSpPr>
        <p:spPr>
          <a:xfrm>
            <a:off x="6309360" y="2834640"/>
            <a:ext cx="2286000" cy="1463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changes are often the quietest ones</a:t>
            </a:r>
            <a:endParaRPr dirty="0" sz="1400" lang="en-US"/>
          </a:p>
        </p:txBody>
      </p:sp>
      <p:sp>
        <p:nvSpPr>
          <p:cNvPr id="1048606" name="Shape 19"/>
          <p:cNvSpPr/>
          <p:nvPr/>
        </p:nvSpPr>
        <p:spPr>
          <a:xfrm>
            <a:off x="0" y="4498848"/>
            <a:ext cx="9144000" cy="301752"/>
          </a:xfrm>
          <a:prstGeom prst="rect"/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1048607" name="Text 20"/>
          <p:cNvSpPr/>
          <p:nvPr/>
        </p:nvSpPr>
        <p:spPr>
          <a:xfrm>
            <a:off x="365760" y="4517136"/>
            <a:ext cx="8412480" cy="237744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i="1" lang="en-US">
                <a:solidFill>
                  <a:srgbClr val="5C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idea became the foundation of our project.</a:t>
            </a:r>
            <a:endParaRPr dirty="0" sz="1200" lang="en-US"/>
          </a:p>
        </p:txBody>
      </p:sp>
      <p:sp>
        <p:nvSpPr>
          <p:cNvPr id="1048608" name="Shape 21"/>
          <p:cNvSpPr/>
          <p:nvPr/>
        </p:nvSpPr>
        <p:spPr>
          <a:xfrm>
            <a:off x="0" y="4800600"/>
            <a:ext cx="9144000" cy="342900"/>
          </a:xfrm>
          <a:prstGeom prst="rect"/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1048609" name="Text 22"/>
          <p:cNvSpPr/>
          <p:nvPr/>
        </p:nvSpPr>
        <p:spPr>
          <a:xfrm>
            <a:off x="274320" y="4818888"/>
            <a:ext cx="85953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Mulk Raj Anand  ·  The Weight of the Ordinary  ·  English PBL</a:t>
            </a:r>
            <a:endParaRPr dirty="0" sz="10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C1A3A"/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614" name="Shape 1"/>
          <p:cNvSpPr/>
          <p:nvPr/>
        </p:nvSpPr>
        <p:spPr>
          <a:xfrm>
            <a:off x="0" y="0"/>
            <a:ext cx="137160" cy="86868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615" name="Text 4"/>
          <p:cNvSpPr/>
          <p:nvPr/>
        </p:nvSpPr>
        <p:spPr>
          <a:xfrm>
            <a:off x="274320" y="54864"/>
            <a:ext cx="7315200" cy="475488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4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Introduction</a:t>
            </a:r>
            <a:endParaRPr dirty="0" sz="2400" lang="en-US"/>
          </a:p>
        </p:txBody>
      </p:sp>
      <p:sp>
        <p:nvSpPr>
          <p:cNvPr id="1048616" name="Text 5"/>
          <p:cNvSpPr/>
          <p:nvPr/>
        </p:nvSpPr>
        <p:spPr>
          <a:xfrm>
            <a:off x="274320" y="54864"/>
            <a:ext cx="7315200" cy="475488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4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Introduction</a:t>
            </a:r>
            <a:endParaRPr dirty="0" sz="2400" lang="en-US"/>
          </a:p>
        </p:txBody>
      </p:sp>
      <p:sp>
        <p:nvSpPr>
          <p:cNvPr id="1048617" name="Shape 6"/>
          <p:cNvSpPr/>
          <p:nvPr/>
        </p:nvSpPr>
        <p:spPr>
          <a:xfrm>
            <a:off x="1371600" y="1051560"/>
            <a:ext cx="6400800" cy="100584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18" name="Text 7"/>
          <p:cNvSpPr/>
          <p:nvPr/>
        </p:nvSpPr>
        <p:spPr>
          <a:xfrm>
            <a:off x="1371600" y="1051560"/>
            <a:ext cx="640080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800" lang="en-US">
                <a:solidFill>
                  <a:srgbClr val="2B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Weight of the Ordinary"</a:t>
            </a:r>
            <a:endParaRPr dirty="0" sz="2800" lang="en-US"/>
          </a:p>
        </p:txBody>
      </p:sp>
      <p:sp>
        <p:nvSpPr>
          <p:cNvPr id="1048619" name="Text 8"/>
          <p:cNvSpPr/>
          <p:nvPr/>
        </p:nvSpPr>
        <p:spPr>
          <a:xfrm>
            <a:off x="365760" y="2194560"/>
            <a:ext cx="841248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i="1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theme of our project</a:t>
            </a:r>
            <a:endParaRPr dirty="0" sz="1400" lang="en-US"/>
          </a:p>
        </p:txBody>
      </p:sp>
      <p:sp>
        <p:nvSpPr>
          <p:cNvPr id="1048620" name="Shape 9"/>
          <p:cNvSpPr/>
          <p:nvPr/>
        </p:nvSpPr>
        <p:spPr>
          <a:xfrm>
            <a:off x="365760" y="2697480"/>
            <a:ext cx="4023360" cy="1554480"/>
          </a:xfrm>
          <a:prstGeom prst="rect"/>
          <a:solidFill>
            <a:srgbClr val="4A1030"/>
          </a:solidFill>
          <a:ln w="12700">
            <a:solidFill>
              <a:srgbClr val="4A1030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21" name="Shape 10"/>
          <p:cNvSpPr/>
          <p:nvPr/>
        </p:nvSpPr>
        <p:spPr>
          <a:xfrm>
            <a:off x="365760" y="2697480"/>
            <a:ext cx="91440" cy="155448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622" name="Text 11"/>
          <p:cNvSpPr/>
          <p:nvPr/>
        </p:nvSpPr>
        <p:spPr>
          <a:xfrm>
            <a:off x="594360" y="2761488"/>
            <a:ext cx="36576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means</a:t>
            </a:r>
            <a:endParaRPr dirty="0" sz="1300" lang="en-US"/>
          </a:p>
        </p:txBody>
      </p:sp>
      <p:sp>
        <p:nvSpPr>
          <p:cNvPr id="1048623" name="Text 12"/>
          <p:cNvSpPr/>
          <p:nvPr/>
        </p:nvSpPr>
        <p:spPr>
          <a:xfrm>
            <a:off x="594360" y="3127248"/>
            <a:ext cx="36576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everyday experiences can carry deep emotional impact — weight that is invisible on the surface.</a:t>
            </a:r>
            <a:endParaRPr dirty="0" sz="1250" lang="en-US"/>
          </a:p>
        </p:txBody>
      </p:sp>
      <p:sp>
        <p:nvSpPr>
          <p:cNvPr id="1048624" name="Shape 13"/>
          <p:cNvSpPr/>
          <p:nvPr/>
        </p:nvSpPr>
        <p:spPr>
          <a:xfrm>
            <a:off x="4754880" y="2697480"/>
            <a:ext cx="4023360" cy="1554480"/>
          </a:xfrm>
          <a:prstGeom prst="rect"/>
          <a:solidFill>
            <a:srgbClr val="4A1030"/>
          </a:solidFill>
          <a:ln w="12700">
            <a:solidFill>
              <a:srgbClr val="4A1030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25" name="Shape 14"/>
          <p:cNvSpPr/>
          <p:nvPr/>
        </p:nvSpPr>
        <p:spPr>
          <a:xfrm>
            <a:off x="4754880" y="2697480"/>
            <a:ext cx="91440" cy="155448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626" name="Text 15"/>
          <p:cNvSpPr/>
          <p:nvPr/>
        </p:nvSpPr>
        <p:spPr>
          <a:xfrm>
            <a:off x="4983480" y="2761488"/>
            <a:ext cx="36576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noticed</a:t>
            </a:r>
            <a:endParaRPr dirty="0" sz="1300" lang="en-US"/>
          </a:p>
        </p:txBody>
      </p:sp>
      <p:sp>
        <p:nvSpPr>
          <p:cNvPr id="1048627" name="Text 16"/>
          <p:cNvSpPr/>
          <p:nvPr/>
        </p:nvSpPr>
        <p:spPr>
          <a:xfrm>
            <a:off x="4983480" y="3127248"/>
            <a:ext cx="36576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three stories, a common quiet emotional journey — every character goes through the same arc.</a:t>
            </a:r>
            <a:endParaRPr dirty="0" sz="1250" lang="en-US"/>
          </a:p>
        </p:txBody>
      </p:sp>
      <p:sp>
        <p:nvSpPr>
          <p:cNvPr id="1048628" name="Shape 17"/>
          <p:cNvSpPr/>
          <p:nvPr/>
        </p:nvSpPr>
        <p:spPr>
          <a:xfrm>
            <a:off x="0" y="4800600"/>
            <a:ext cx="9144000" cy="342900"/>
          </a:xfrm>
          <a:prstGeom prst="rect"/>
          <a:solidFill>
            <a:srgbClr val="3A1020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1048629" name="Text 18"/>
          <p:cNvSpPr/>
          <p:nvPr/>
        </p:nvSpPr>
        <p:spPr>
          <a:xfrm>
            <a:off x="274320" y="4818888"/>
            <a:ext cx="85953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Mulk Raj Anand  ·  The Weight of the Ordinary  ·  English PBL</a:t>
            </a:r>
            <a:endParaRPr dirty="0" sz="10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E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634" name="Shape 1"/>
          <p:cNvSpPr/>
          <p:nvPr/>
        </p:nvSpPr>
        <p:spPr>
          <a:xfrm>
            <a:off x="0" y="0"/>
            <a:ext cx="137160" cy="86868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635" name="Text 4"/>
          <p:cNvSpPr/>
          <p:nvPr/>
        </p:nvSpPr>
        <p:spPr>
          <a:xfrm>
            <a:off x="274320" y="54864"/>
            <a:ext cx="7315200" cy="475488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4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Breakdown &amp; SDG 10</a:t>
            </a:r>
            <a:endParaRPr dirty="0" sz="2400" lang="en-US"/>
          </a:p>
        </p:txBody>
      </p:sp>
      <p:sp>
        <p:nvSpPr>
          <p:cNvPr id="1048636" name="Text 5"/>
          <p:cNvSpPr/>
          <p:nvPr/>
        </p:nvSpPr>
        <p:spPr>
          <a:xfrm>
            <a:off x="274320" y="530352"/>
            <a:ext cx="731520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1200" i="1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Structure + Reduced Inequalities</a:t>
            </a:r>
            <a:endParaRPr dirty="0" sz="1200" lang="en-US"/>
          </a:p>
        </p:txBody>
      </p:sp>
      <p:sp>
        <p:nvSpPr>
          <p:cNvPr id="1048637" name="Shape 6"/>
          <p:cNvSpPr/>
          <p:nvPr/>
        </p:nvSpPr>
        <p:spPr>
          <a:xfrm>
            <a:off x="365760" y="1005840"/>
            <a:ext cx="8412480" cy="594360"/>
          </a:xfrm>
          <a:prstGeom prst="rect"/>
          <a:solidFill>
            <a:srgbClr val="F0E9E0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638" name="Shape 7"/>
          <p:cNvSpPr/>
          <p:nvPr/>
        </p:nvSpPr>
        <p:spPr>
          <a:xfrm>
            <a:off x="365760" y="1005840"/>
            <a:ext cx="1463040" cy="594360"/>
          </a:xfrm>
          <a:prstGeom prst="rect"/>
          <a:solidFill>
            <a:srgbClr val="8FAF8A"/>
          </a:solidFill>
          <a:ln w="12700">
            <a:solidFill>
              <a:srgbClr val="8FAF8A"/>
            </a:solidFill>
            <a:prstDash val="solid"/>
          </a:ln>
        </p:spPr>
      </p:sp>
      <p:sp>
        <p:nvSpPr>
          <p:cNvPr id="1048639" name="Text 8"/>
          <p:cNvSpPr/>
          <p:nvPr/>
        </p:nvSpPr>
        <p:spPr>
          <a:xfrm>
            <a:off x="365760" y="1005840"/>
            <a:ext cx="14630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WHOLENESS</a:t>
            </a:r>
            <a:endParaRPr dirty="0" sz="1000" lang="en-US"/>
          </a:p>
        </p:txBody>
      </p:sp>
      <p:sp>
        <p:nvSpPr>
          <p:cNvPr id="1048640" name="Text 9"/>
          <p:cNvSpPr/>
          <p:nvPr/>
        </p:nvSpPr>
        <p:spPr>
          <a:xfrm>
            <a:off x="1965960" y="1069848"/>
            <a:ext cx="667512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 has something meaningful — innocence, dignity, or identity.</a:t>
            </a:r>
            <a:endParaRPr dirty="0" sz="1250" lang="en-US"/>
          </a:p>
        </p:txBody>
      </p:sp>
      <p:sp>
        <p:nvSpPr>
          <p:cNvPr id="1048641" name="Shape 10"/>
          <p:cNvSpPr/>
          <p:nvPr/>
        </p:nvSpPr>
        <p:spPr>
          <a:xfrm>
            <a:off x="365760" y="1664208"/>
            <a:ext cx="8412480" cy="594360"/>
          </a:xfrm>
          <a:prstGeom prst="rect"/>
          <a:solidFill>
            <a:srgbClr val="F5EFE6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642" name="Shape 11"/>
          <p:cNvSpPr/>
          <p:nvPr/>
        </p:nvSpPr>
        <p:spPr>
          <a:xfrm>
            <a:off x="365760" y="1664208"/>
            <a:ext cx="1463040" cy="594360"/>
          </a:xfrm>
          <a:prstGeom prst="rect"/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048643" name="Text 12"/>
          <p:cNvSpPr/>
          <p:nvPr/>
        </p:nvSpPr>
        <p:spPr>
          <a:xfrm>
            <a:off x="365760" y="1664208"/>
            <a:ext cx="14630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dirty="0" sz="1000" lang="en-US"/>
          </a:p>
        </p:txBody>
      </p:sp>
      <p:sp>
        <p:nvSpPr>
          <p:cNvPr id="1048644" name="Text 13"/>
          <p:cNvSpPr/>
          <p:nvPr/>
        </p:nvSpPr>
        <p:spPr>
          <a:xfrm>
            <a:off x="1965960" y="1728216"/>
            <a:ext cx="667512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important is taken away — not always violently, sometimes through simple situations.</a:t>
            </a:r>
            <a:endParaRPr dirty="0" sz="1250" lang="en-US"/>
          </a:p>
        </p:txBody>
      </p:sp>
      <p:sp>
        <p:nvSpPr>
          <p:cNvPr id="1048645" name="Shape 14"/>
          <p:cNvSpPr/>
          <p:nvPr/>
        </p:nvSpPr>
        <p:spPr>
          <a:xfrm>
            <a:off x="365760" y="2322576"/>
            <a:ext cx="8412480" cy="594360"/>
          </a:xfrm>
          <a:prstGeom prst="rect"/>
          <a:solidFill>
            <a:srgbClr val="F0E9E0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646" name="Shape 15"/>
          <p:cNvSpPr/>
          <p:nvPr/>
        </p:nvSpPr>
        <p:spPr>
          <a:xfrm>
            <a:off x="365760" y="2322576"/>
            <a:ext cx="1463040" cy="59436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647" name="Text 16"/>
          <p:cNvSpPr/>
          <p:nvPr/>
        </p:nvSpPr>
        <p:spPr>
          <a:xfrm>
            <a:off x="365760" y="2322576"/>
            <a:ext cx="14630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DIMINISHMENT</a:t>
            </a:r>
            <a:endParaRPr dirty="0" sz="1000" lang="en-US"/>
          </a:p>
        </p:txBody>
      </p:sp>
      <p:sp>
        <p:nvSpPr>
          <p:cNvPr id="1048648" name="Text 17"/>
          <p:cNvSpPr/>
          <p:nvPr/>
        </p:nvSpPr>
        <p:spPr>
          <a:xfrm>
            <a:off x="1965960" y="2386584"/>
            <a:ext cx="667512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 is left incomplete — not broken loudly, but silently reduced.</a:t>
            </a:r>
            <a:endParaRPr dirty="0" sz="1250" lang="en-US"/>
          </a:p>
        </p:txBody>
      </p:sp>
      <p:sp>
        <p:nvSpPr>
          <p:cNvPr id="1048649" name="Shape 18"/>
          <p:cNvSpPr/>
          <p:nvPr/>
        </p:nvSpPr>
        <p:spPr>
          <a:xfrm>
            <a:off x="365760" y="3035808"/>
            <a:ext cx="8412480" cy="384048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650" name="Shape 19"/>
          <p:cNvSpPr/>
          <p:nvPr/>
        </p:nvSpPr>
        <p:spPr>
          <a:xfrm>
            <a:off x="365760" y="3035808"/>
            <a:ext cx="109728" cy="384048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651" name="Text 20"/>
          <p:cNvSpPr/>
          <p:nvPr/>
        </p:nvSpPr>
        <p:spPr>
          <a:xfrm>
            <a:off x="594360" y="3035808"/>
            <a:ext cx="804672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SDG 10 — Reduced Inequalities</a:t>
            </a:r>
            <a:endParaRPr dirty="0" sz="1400" lang="en-US"/>
          </a:p>
        </p:txBody>
      </p:sp>
      <p:sp>
        <p:nvSpPr>
          <p:cNvPr id="1048652" name="Shape 21"/>
          <p:cNvSpPr/>
          <p:nvPr/>
        </p:nvSpPr>
        <p:spPr>
          <a:xfrm>
            <a:off x="365760" y="3493008"/>
            <a:ext cx="8412480" cy="347472"/>
          </a:xfrm>
          <a:prstGeom prst="rect"/>
          <a:solidFill>
            <a:srgbClr val="F0E9E0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653" name="Shape 22"/>
          <p:cNvSpPr/>
          <p:nvPr/>
        </p:nvSpPr>
        <p:spPr>
          <a:xfrm>
            <a:off x="365760" y="3493008"/>
            <a:ext cx="91440" cy="347472"/>
          </a:xfrm>
          <a:prstGeom prst="rect"/>
          <a:solidFill>
            <a:srgbClr val="8FAF8A"/>
          </a:solidFill>
          <a:ln w="12700">
            <a:solidFill>
              <a:srgbClr val="8FAF8A"/>
            </a:solidFill>
            <a:prstDash val="solid"/>
          </a:ln>
        </p:spPr>
      </p:sp>
      <p:sp>
        <p:nvSpPr>
          <p:cNvPr id="1048654" name="Text 23"/>
          <p:cNvSpPr/>
          <p:nvPr/>
        </p:nvSpPr>
        <p:spPr>
          <a:xfrm>
            <a:off x="594360" y="3529584"/>
            <a:ext cx="804672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Wholeness → what every person deserves regardless of class or occupation (dignity, purpose, recognition)</a:t>
            </a:r>
            <a:endParaRPr dirty="0" sz="1150" lang="en-US"/>
          </a:p>
        </p:txBody>
      </p:sp>
      <p:sp>
        <p:nvSpPr>
          <p:cNvPr id="1048655" name="Shape 24"/>
          <p:cNvSpPr/>
          <p:nvPr/>
        </p:nvSpPr>
        <p:spPr>
          <a:xfrm>
            <a:off x="365760" y="3877056"/>
            <a:ext cx="8412480" cy="347472"/>
          </a:xfrm>
          <a:prstGeom prst="rect"/>
          <a:solidFill>
            <a:srgbClr val="F5EFE6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656" name="Shape 25"/>
          <p:cNvSpPr/>
          <p:nvPr/>
        </p:nvSpPr>
        <p:spPr>
          <a:xfrm>
            <a:off x="365760" y="3877056"/>
            <a:ext cx="91440" cy="347472"/>
          </a:xfrm>
          <a:prstGeom prst="rect"/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048657" name="Text 26"/>
          <p:cNvSpPr/>
          <p:nvPr/>
        </p:nvSpPr>
        <p:spPr>
          <a:xfrm>
            <a:off x="594360" y="3913632"/>
            <a:ext cx="804672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→ structural failure: a child unprotected, a worker dismissed, a craftsman replaced without thought</a:t>
            </a:r>
            <a:endParaRPr dirty="0" sz="1150" lang="en-US"/>
          </a:p>
        </p:txBody>
      </p:sp>
      <p:sp>
        <p:nvSpPr>
          <p:cNvPr id="1048658" name="Shape 27"/>
          <p:cNvSpPr/>
          <p:nvPr/>
        </p:nvSpPr>
        <p:spPr>
          <a:xfrm>
            <a:off x="365760" y="4261104"/>
            <a:ext cx="8412480" cy="347472"/>
          </a:xfrm>
          <a:prstGeom prst="rect"/>
          <a:solidFill>
            <a:srgbClr val="F0E9E0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659" name="Shape 28"/>
          <p:cNvSpPr/>
          <p:nvPr/>
        </p:nvSpPr>
        <p:spPr>
          <a:xfrm>
            <a:off x="365760" y="4261104"/>
            <a:ext cx="91440" cy="347472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660" name="Text 29"/>
          <p:cNvSpPr/>
          <p:nvPr/>
        </p:nvSpPr>
        <p:spPr>
          <a:xfrm>
            <a:off x="594360" y="4297680"/>
            <a:ext cx="804672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Diminishment → quiet acceptance that some people simply matter less — what real inequality looks like</a:t>
            </a:r>
            <a:endParaRPr dirty="0" sz="1150" lang="en-US"/>
          </a:p>
        </p:txBody>
      </p:sp>
      <p:sp>
        <p:nvSpPr>
          <p:cNvPr id="1048661" name="Shape 30"/>
          <p:cNvSpPr/>
          <p:nvPr/>
        </p:nvSpPr>
        <p:spPr>
          <a:xfrm>
            <a:off x="0" y="4800600"/>
            <a:ext cx="9144000" cy="342900"/>
          </a:xfrm>
          <a:prstGeom prst="rect"/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1048662" name="Text 31"/>
          <p:cNvSpPr/>
          <p:nvPr/>
        </p:nvSpPr>
        <p:spPr>
          <a:xfrm>
            <a:off x="274320" y="4818888"/>
            <a:ext cx="85953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Mulk Raj Anand  ·  The Weight of the Ordinary  ·  English PBL</a:t>
            </a:r>
            <a:endParaRPr dirty="0" sz="1000" lang="en-US"/>
          </a:p>
        </p:txBody>
      </p:sp>
      <p:pic>
        <p:nvPicPr>
          <p:cNvPr id="2097153" name="Picture 2" descr="SDG 10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55584" y="3522052"/>
            <a:ext cx="1094056" cy="1094056"/>
          </a:xfrm>
          <a:prstGeom prst="rect"/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667" name="Shape 1"/>
          <p:cNvSpPr/>
          <p:nvPr/>
        </p:nvSpPr>
        <p:spPr>
          <a:xfrm>
            <a:off x="0" y="0"/>
            <a:ext cx="137160" cy="86868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668" name="Text 4"/>
          <p:cNvSpPr/>
          <p:nvPr/>
        </p:nvSpPr>
        <p:spPr>
          <a:xfrm>
            <a:off x="274320" y="54864"/>
            <a:ext cx="7315200" cy="475488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4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1 — The Lost Child</a:t>
            </a:r>
            <a:endParaRPr dirty="0" sz="2400" lang="en-US"/>
          </a:p>
        </p:txBody>
      </p:sp>
      <p:sp>
        <p:nvSpPr>
          <p:cNvPr id="1048669" name="Text 5"/>
          <p:cNvSpPr/>
          <p:nvPr/>
        </p:nvSpPr>
        <p:spPr>
          <a:xfrm>
            <a:off x="274320" y="530352"/>
            <a:ext cx="731520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1200" i="1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Innocence</a:t>
            </a:r>
            <a:endParaRPr dirty="0" sz="1200" lang="en-US"/>
          </a:p>
        </p:txBody>
      </p:sp>
      <p:sp>
        <p:nvSpPr>
          <p:cNvPr id="1048670" name="Shape 6"/>
          <p:cNvSpPr/>
          <p:nvPr/>
        </p:nvSpPr>
        <p:spPr>
          <a:xfrm>
            <a:off x="365760" y="1005840"/>
            <a:ext cx="3931920" cy="356616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71" name="Text 7"/>
          <p:cNvSpPr/>
          <p:nvPr/>
        </p:nvSpPr>
        <p:spPr>
          <a:xfrm>
            <a:off x="502920" y="1097280"/>
            <a:ext cx="365760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LOST CHILD</a:t>
            </a:r>
            <a:endParaRPr dirty="0" sz="1600" lang="en-US"/>
          </a:p>
        </p:txBody>
      </p:sp>
      <p:sp>
        <p:nvSpPr>
          <p:cNvPr id="1048672" name="Shape 8"/>
          <p:cNvSpPr/>
          <p:nvPr/>
        </p:nvSpPr>
        <p:spPr>
          <a:xfrm>
            <a:off x="502920" y="1572768"/>
            <a:ext cx="3291840" cy="36576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673" name="Text 9"/>
          <p:cNvSpPr/>
          <p:nvPr/>
        </p:nvSpPr>
        <p:spPr>
          <a:xfrm>
            <a:off x="502920" y="1691640"/>
            <a:ext cx="35661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beginning:</a:t>
            </a:r>
            <a:endParaRPr dirty="0" sz="1200" lang="en-US"/>
          </a:p>
        </p:txBody>
      </p:sp>
      <p:sp>
        <p:nvSpPr>
          <p:cNvPr id="1048674" name="Text 10"/>
          <p:cNvSpPr/>
          <p:nvPr/>
        </p:nvSpPr>
        <p:spPr>
          <a:xfrm>
            <a:off x="502920" y="2029968"/>
            <a:ext cx="3566160" cy="777240"/>
          </a:xfrm>
          <a:prstGeom prst="rect"/>
          <a:noFill/>
        </p:spPr>
        <p:txBody>
          <a:bodyPr anchor="ctr" rtlCol="0" wrap="square"/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2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is happy and excited</a:t>
            </a:r>
            <a:endParaRPr dirty="0" sz="1200" lang="en-US"/>
          </a:p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2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wants toys, sweets, and flowers</a:t>
            </a:r>
            <a:endParaRPr dirty="0" sz="1200" lang="en-US"/>
          </a:p>
        </p:txBody>
      </p:sp>
      <p:sp>
        <p:nvSpPr>
          <p:cNvPr id="1048675" name="Text 11"/>
          <p:cNvSpPr/>
          <p:nvPr/>
        </p:nvSpPr>
        <p:spPr>
          <a:xfrm>
            <a:off x="502920" y="2834640"/>
            <a:ext cx="35661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separation:</a:t>
            </a:r>
            <a:endParaRPr dirty="0" sz="1200" lang="en-US"/>
          </a:p>
        </p:txBody>
      </p:sp>
      <p:sp>
        <p:nvSpPr>
          <p:cNvPr id="1048676" name="Text 12"/>
          <p:cNvSpPr/>
          <p:nvPr/>
        </p:nvSpPr>
        <p:spPr>
          <a:xfrm>
            <a:off x="502920" y="3172968"/>
            <a:ext cx="3566160" cy="777240"/>
          </a:xfrm>
          <a:prstGeom prst="rect"/>
          <a:noFill/>
        </p:spPr>
        <p:txBody>
          <a:bodyPr anchor="ctr" rtlCol="0" wrap="square"/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2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matters anymore</a:t>
            </a:r>
            <a:endParaRPr dirty="0" sz="1200" lang="en-US"/>
          </a:p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2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his desires disappear instantly</a:t>
            </a:r>
            <a:endParaRPr dirty="0" sz="1200" lang="en-US"/>
          </a:p>
        </p:txBody>
      </p:sp>
      <p:sp>
        <p:nvSpPr>
          <p:cNvPr id="1048677" name="Text 13"/>
          <p:cNvSpPr/>
          <p:nvPr/>
        </p:nvSpPr>
        <p:spPr>
          <a:xfrm>
            <a:off x="502920" y="4041648"/>
            <a:ext cx="356616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i="1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Belonging is more important than material happiness.</a:t>
            </a:r>
            <a:endParaRPr dirty="0" sz="1150" lang="en-US"/>
          </a:p>
        </p:txBody>
      </p:sp>
      <p:sp>
        <p:nvSpPr>
          <p:cNvPr id="1048678" name="Text 14"/>
          <p:cNvSpPr/>
          <p:nvPr/>
        </p:nvSpPr>
        <p:spPr>
          <a:xfrm>
            <a:off x="4526280" y="1005840"/>
            <a:ext cx="438912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5C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Emotional Arc</a:t>
            </a:r>
            <a:endParaRPr dirty="0" sz="1500" lang="en-US"/>
          </a:p>
        </p:txBody>
      </p:sp>
      <p:sp>
        <p:nvSpPr>
          <p:cNvPr id="1048679" name="Shape 15"/>
          <p:cNvSpPr/>
          <p:nvPr/>
        </p:nvSpPr>
        <p:spPr>
          <a:xfrm>
            <a:off x="4526280" y="1463040"/>
            <a:ext cx="4343400" cy="594360"/>
          </a:xfrm>
          <a:prstGeom prst="rect"/>
          <a:solidFill>
            <a:srgbClr val="F0E9E0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680" name="Shape 16"/>
          <p:cNvSpPr/>
          <p:nvPr/>
        </p:nvSpPr>
        <p:spPr>
          <a:xfrm>
            <a:off x="4526280" y="1463040"/>
            <a:ext cx="1463040" cy="594360"/>
          </a:xfrm>
          <a:prstGeom prst="rect"/>
          <a:solidFill>
            <a:srgbClr val="8FAF8A"/>
          </a:solidFill>
          <a:ln w="12700">
            <a:solidFill>
              <a:srgbClr val="8FAF8A"/>
            </a:solidFill>
            <a:prstDash val="solid"/>
          </a:ln>
        </p:spPr>
      </p:sp>
      <p:sp>
        <p:nvSpPr>
          <p:cNvPr id="1048681" name="Text 17"/>
          <p:cNvSpPr/>
          <p:nvPr/>
        </p:nvSpPr>
        <p:spPr>
          <a:xfrm>
            <a:off x="4526280" y="1463040"/>
            <a:ext cx="14630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WHOLENESS</a:t>
            </a:r>
            <a:endParaRPr dirty="0" sz="1000" lang="en-US"/>
          </a:p>
        </p:txBody>
      </p:sp>
      <p:sp>
        <p:nvSpPr>
          <p:cNvPr id="1048682" name="Text 18"/>
          <p:cNvSpPr/>
          <p:nvPr/>
        </p:nvSpPr>
        <p:spPr>
          <a:xfrm>
            <a:off x="6126480" y="1527048"/>
            <a:ext cx="260604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and security — feels whole with parents</a:t>
            </a:r>
            <a:endParaRPr dirty="0" sz="1250" lang="en-US"/>
          </a:p>
        </p:txBody>
      </p:sp>
      <p:sp>
        <p:nvSpPr>
          <p:cNvPr id="1048683" name="Shape 19"/>
          <p:cNvSpPr/>
          <p:nvPr/>
        </p:nvSpPr>
        <p:spPr>
          <a:xfrm>
            <a:off x="4526280" y="2121408"/>
            <a:ext cx="4343400" cy="594360"/>
          </a:xfrm>
          <a:prstGeom prst="rect"/>
          <a:solidFill>
            <a:srgbClr val="F5EFE6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684" name="Shape 20"/>
          <p:cNvSpPr/>
          <p:nvPr/>
        </p:nvSpPr>
        <p:spPr>
          <a:xfrm>
            <a:off x="4526280" y="2121408"/>
            <a:ext cx="1463040" cy="594360"/>
          </a:xfrm>
          <a:prstGeom prst="rect"/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048685" name="Text 21"/>
          <p:cNvSpPr/>
          <p:nvPr/>
        </p:nvSpPr>
        <p:spPr>
          <a:xfrm>
            <a:off x="4526280" y="2121408"/>
            <a:ext cx="14630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dirty="0" sz="1000" lang="en-US"/>
          </a:p>
        </p:txBody>
      </p:sp>
      <p:sp>
        <p:nvSpPr>
          <p:cNvPr id="1048686" name="Text 22"/>
          <p:cNvSpPr/>
          <p:nvPr/>
        </p:nvSpPr>
        <p:spPr>
          <a:xfrm>
            <a:off x="6126480" y="2185416"/>
            <a:ext cx="260604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in the crowd — belonging suddenly gone</a:t>
            </a:r>
            <a:endParaRPr dirty="0" sz="1250" lang="en-US"/>
          </a:p>
        </p:txBody>
      </p:sp>
      <p:sp>
        <p:nvSpPr>
          <p:cNvPr id="1048687" name="Shape 23"/>
          <p:cNvSpPr/>
          <p:nvPr/>
        </p:nvSpPr>
        <p:spPr>
          <a:xfrm>
            <a:off x="4526280" y="2779776"/>
            <a:ext cx="4343400" cy="594360"/>
          </a:xfrm>
          <a:prstGeom prst="rect"/>
          <a:solidFill>
            <a:srgbClr val="F0E9E0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688" name="Shape 24"/>
          <p:cNvSpPr/>
          <p:nvPr/>
        </p:nvSpPr>
        <p:spPr>
          <a:xfrm>
            <a:off x="4526280" y="2779776"/>
            <a:ext cx="1463040" cy="59436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689" name="Text 25"/>
          <p:cNvSpPr/>
          <p:nvPr/>
        </p:nvSpPr>
        <p:spPr>
          <a:xfrm>
            <a:off x="4526280" y="2779776"/>
            <a:ext cx="14630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DIMINISHMENT</a:t>
            </a:r>
            <a:endParaRPr dirty="0" sz="1000" lang="en-US"/>
          </a:p>
        </p:txBody>
      </p:sp>
      <p:sp>
        <p:nvSpPr>
          <p:cNvPr id="1048690" name="Text 26"/>
          <p:cNvSpPr/>
          <p:nvPr/>
        </p:nvSpPr>
        <p:spPr>
          <a:xfrm>
            <a:off x="6126480" y="2843784"/>
            <a:ext cx="260604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Emptiness — every desire becomes meaningless</a:t>
            </a:r>
            <a:endParaRPr dirty="0" sz="1250" lang="en-US"/>
          </a:p>
        </p:txBody>
      </p:sp>
      <p:sp>
        <p:nvSpPr>
          <p:cNvPr id="1048691" name="Shape 27"/>
          <p:cNvSpPr/>
          <p:nvPr/>
        </p:nvSpPr>
        <p:spPr>
          <a:xfrm>
            <a:off x="4526280" y="3474720"/>
            <a:ext cx="4389120" cy="1097280"/>
          </a:xfrm>
          <a:prstGeom prst="rect"/>
          <a:solidFill>
            <a:srgbClr val="EDE0D4"/>
          </a:solidFill>
          <a:ln w="12700">
            <a:solidFill>
              <a:srgbClr val="A26769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692" name="Shape 28"/>
          <p:cNvSpPr/>
          <p:nvPr/>
        </p:nvSpPr>
        <p:spPr>
          <a:xfrm>
            <a:off x="4526280" y="3474720"/>
            <a:ext cx="91440" cy="109728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693" name="Text 29"/>
          <p:cNvSpPr/>
          <p:nvPr/>
        </p:nvSpPr>
        <p:spPr>
          <a:xfrm>
            <a:off x="4709160" y="3538728"/>
            <a:ext cx="416052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5C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dirty="0" sz="1200" lang="en-US"/>
          </a:p>
        </p:txBody>
      </p:sp>
      <p:sp>
        <p:nvSpPr>
          <p:cNvPr id="1048694" name="Text 30"/>
          <p:cNvSpPr/>
          <p:nvPr/>
        </p:nvSpPr>
        <p:spPr>
          <a:xfrm>
            <a:off x="4709160" y="3840480"/>
            <a:ext cx="41605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the child loses his parents, the entire world loses its colour. Loss of belonging transforms everything around us.</a:t>
            </a:r>
            <a:endParaRPr dirty="0" sz="1200" lang="en-US"/>
          </a:p>
        </p:txBody>
      </p:sp>
      <p:sp>
        <p:nvSpPr>
          <p:cNvPr id="1048695" name="Shape 31"/>
          <p:cNvSpPr/>
          <p:nvPr/>
        </p:nvSpPr>
        <p:spPr>
          <a:xfrm>
            <a:off x="0" y="4800600"/>
            <a:ext cx="9144000" cy="342900"/>
          </a:xfrm>
          <a:prstGeom prst="rect"/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1048696" name="Text 32"/>
          <p:cNvSpPr/>
          <p:nvPr/>
        </p:nvSpPr>
        <p:spPr>
          <a:xfrm>
            <a:off x="274320" y="4818888"/>
            <a:ext cx="85953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Mulk Raj Anand  ·  The Weight of the Ordinary  ·  English PBL</a:t>
            </a:r>
            <a:endParaRPr dirty="0" sz="10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E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701" name="Shape 1"/>
          <p:cNvSpPr/>
          <p:nvPr/>
        </p:nvSpPr>
        <p:spPr>
          <a:xfrm>
            <a:off x="0" y="0"/>
            <a:ext cx="137160" cy="86868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702" name="Text 4"/>
          <p:cNvSpPr/>
          <p:nvPr/>
        </p:nvSpPr>
        <p:spPr>
          <a:xfrm>
            <a:off x="274320" y="54864"/>
            <a:ext cx="7315200" cy="475488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4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2 — The Gold Watch</a:t>
            </a:r>
            <a:endParaRPr dirty="0" sz="2400" lang="en-US"/>
          </a:p>
        </p:txBody>
      </p:sp>
      <p:sp>
        <p:nvSpPr>
          <p:cNvPr id="1048703" name="Text 5"/>
          <p:cNvSpPr/>
          <p:nvPr/>
        </p:nvSpPr>
        <p:spPr>
          <a:xfrm>
            <a:off x="274320" y="530352"/>
            <a:ext cx="731520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1200" i="1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Dignity</a:t>
            </a:r>
            <a:endParaRPr dirty="0" sz="1200" lang="en-US"/>
          </a:p>
        </p:txBody>
      </p:sp>
      <p:sp>
        <p:nvSpPr>
          <p:cNvPr id="1048704" name="Shape 6"/>
          <p:cNvSpPr/>
          <p:nvPr/>
        </p:nvSpPr>
        <p:spPr>
          <a:xfrm>
            <a:off x="365760" y="1005840"/>
            <a:ext cx="3931920" cy="356616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05" name="Text 7"/>
          <p:cNvSpPr/>
          <p:nvPr/>
        </p:nvSpPr>
        <p:spPr>
          <a:xfrm>
            <a:off x="502920" y="1097280"/>
            <a:ext cx="365760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 WATCH</a:t>
            </a:r>
            <a:endParaRPr dirty="0" sz="1600" lang="en-US"/>
          </a:p>
        </p:txBody>
      </p:sp>
      <p:sp>
        <p:nvSpPr>
          <p:cNvPr id="1048706" name="Shape 8"/>
          <p:cNvSpPr/>
          <p:nvPr/>
        </p:nvSpPr>
        <p:spPr>
          <a:xfrm>
            <a:off x="502920" y="1572768"/>
            <a:ext cx="3291840" cy="36576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707" name="Text 9"/>
          <p:cNvSpPr/>
          <p:nvPr/>
        </p:nvSpPr>
        <p:spPr>
          <a:xfrm>
            <a:off x="502920" y="1691640"/>
            <a:ext cx="35661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story:</a:t>
            </a:r>
            <a:endParaRPr dirty="0" sz="1200" lang="en-US"/>
          </a:p>
        </p:txBody>
      </p:sp>
      <p:sp>
        <p:nvSpPr>
          <p:cNvPr id="1048708" name="Text 10"/>
          <p:cNvSpPr/>
          <p:nvPr/>
        </p:nvSpPr>
        <p:spPr>
          <a:xfrm>
            <a:off x="502920" y="2029968"/>
            <a:ext cx="356616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retires after years of loyal service and receives a gold watch as a reward.</a:t>
            </a:r>
            <a:endParaRPr dirty="0" sz="1200" lang="en-US"/>
          </a:p>
        </p:txBody>
      </p:sp>
      <p:sp>
        <p:nvSpPr>
          <p:cNvPr id="1048709" name="Text 11"/>
          <p:cNvSpPr/>
          <p:nvPr/>
        </p:nvSpPr>
        <p:spPr>
          <a:xfrm>
            <a:off x="502920" y="2697480"/>
            <a:ext cx="356616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reality:</a:t>
            </a:r>
            <a:endParaRPr dirty="0" sz="1200" lang="en-US"/>
          </a:p>
        </p:txBody>
      </p:sp>
      <p:sp>
        <p:nvSpPr>
          <p:cNvPr id="1048710" name="Text 12"/>
          <p:cNvSpPr/>
          <p:nvPr/>
        </p:nvSpPr>
        <p:spPr>
          <a:xfrm>
            <a:off x="502920" y="3017520"/>
            <a:ext cx="3566160" cy="822960"/>
          </a:xfrm>
          <a:prstGeom prst="rect"/>
          <a:noFill/>
        </p:spPr>
        <p:txBody>
          <a:bodyPr anchor="ctr" rtlCol="0" wrap="square"/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2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gift feels small compared to his lifelong effort</a:t>
            </a:r>
            <a:endParaRPr dirty="0" sz="1200" lang="en-US"/>
          </a:p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2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highlights how easily people are forgotten</a:t>
            </a:r>
            <a:endParaRPr dirty="0" sz="1200" lang="en-US"/>
          </a:p>
        </p:txBody>
      </p:sp>
      <p:sp>
        <p:nvSpPr>
          <p:cNvPr id="1048711" name="Text 13"/>
          <p:cNvSpPr/>
          <p:nvPr/>
        </p:nvSpPr>
        <p:spPr>
          <a:xfrm>
            <a:off x="502920" y="4023360"/>
            <a:ext cx="356616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i="1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Dignity can be quietly taken away.</a:t>
            </a:r>
            <a:endParaRPr dirty="0" sz="1150" lang="en-US"/>
          </a:p>
        </p:txBody>
      </p:sp>
      <p:sp>
        <p:nvSpPr>
          <p:cNvPr id="1048712" name="Text 14"/>
          <p:cNvSpPr/>
          <p:nvPr/>
        </p:nvSpPr>
        <p:spPr>
          <a:xfrm>
            <a:off x="4526280" y="1005840"/>
            <a:ext cx="438912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5C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Emotional Arc</a:t>
            </a:r>
            <a:endParaRPr dirty="0" sz="1500" lang="en-US"/>
          </a:p>
        </p:txBody>
      </p:sp>
      <p:sp>
        <p:nvSpPr>
          <p:cNvPr id="1048713" name="Shape 15"/>
          <p:cNvSpPr/>
          <p:nvPr/>
        </p:nvSpPr>
        <p:spPr>
          <a:xfrm>
            <a:off x="4526280" y="1463040"/>
            <a:ext cx="4343400" cy="594360"/>
          </a:xfrm>
          <a:prstGeom prst="rect"/>
          <a:solidFill>
            <a:srgbClr val="F0E9E0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714" name="Shape 16"/>
          <p:cNvSpPr/>
          <p:nvPr/>
        </p:nvSpPr>
        <p:spPr>
          <a:xfrm>
            <a:off x="4526280" y="1463040"/>
            <a:ext cx="1463040" cy="594360"/>
          </a:xfrm>
          <a:prstGeom prst="rect"/>
          <a:solidFill>
            <a:srgbClr val="8FAF8A"/>
          </a:solidFill>
          <a:ln w="12700">
            <a:solidFill>
              <a:srgbClr val="8FAF8A"/>
            </a:solidFill>
            <a:prstDash val="solid"/>
          </a:ln>
        </p:spPr>
      </p:sp>
      <p:sp>
        <p:nvSpPr>
          <p:cNvPr id="1048715" name="Text 17"/>
          <p:cNvSpPr/>
          <p:nvPr/>
        </p:nvSpPr>
        <p:spPr>
          <a:xfrm>
            <a:off x="4526280" y="1463040"/>
            <a:ext cx="14630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WHOLENESS</a:t>
            </a:r>
            <a:endParaRPr dirty="0" sz="1000" lang="en-US"/>
          </a:p>
        </p:txBody>
      </p:sp>
      <p:sp>
        <p:nvSpPr>
          <p:cNvPr id="1048716" name="Text 18"/>
          <p:cNvSpPr/>
          <p:nvPr/>
        </p:nvSpPr>
        <p:spPr>
          <a:xfrm>
            <a:off x="6126480" y="1527048"/>
            <a:ext cx="260604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dedication — life defined by work</a:t>
            </a:r>
            <a:endParaRPr dirty="0" sz="1250" lang="en-US"/>
          </a:p>
        </p:txBody>
      </p:sp>
      <p:sp>
        <p:nvSpPr>
          <p:cNvPr id="1048717" name="Shape 19"/>
          <p:cNvSpPr/>
          <p:nvPr/>
        </p:nvSpPr>
        <p:spPr>
          <a:xfrm>
            <a:off x="4526280" y="2121408"/>
            <a:ext cx="4343400" cy="594360"/>
          </a:xfrm>
          <a:prstGeom prst="rect"/>
          <a:solidFill>
            <a:srgbClr val="F5EFE6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718" name="Shape 20"/>
          <p:cNvSpPr/>
          <p:nvPr/>
        </p:nvSpPr>
        <p:spPr>
          <a:xfrm>
            <a:off x="4526280" y="2121408"/>
            <a:ext cx="1463040" cy="594360"/>
          </a:xfrm>
          <a:prstGeom prst="rect"/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048719" name="Text 21"/>
          <p:cNvSpPr/>
          <p:nvPr/>
        </p:nvSpPr>
        <p:spPr>
          <a:xfrm>
            <a:off x="4526280" y="2121408"/>
            <a:ext cx="14630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dirty="0" sz="1000" lang="en-US"/>
          </a:p>
        </p:txBody>
      </p:sp>
      <p:sp>
        <p:nvSpPr>
          <p:cNvPr id="1048720" name="Text 22"/>
          <p:cNvSpPr/>
          <p:nvPr/>
        </p:nvSpPr>
        <p:spPr>
          <a:xfrm>
            <a:off x="6126480" y="2185416"/>
            <a:ext cx="260604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removes relevance — years end with a token</a:t>
            </a:r>
            <a:endParaRPr dirty="0" sz="1250" lang="en-US"/>
          </a:p>
        </p:txBody>
      </p:sp>
      <p:sp>
        <p:nvSpPr>
          <p:cNvPr id="1048721" name="Shape 23"/>
          <p:cNvSpPr/>
          <p:nvPr/>
        </p:nvSpPr>
        <p:spPr>
          <a:xfrm>
            <a:off x="4526280" y="2779776"/>
            <a:ext cx="4343400" cy="594360"/>
          </a:xfrm>
          <a:prstGeom prst="rect"/>
          <a:solidFill>
            <a:srgbClr val="F0E9E0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722" name="Shape 24"/>
          <p:cNvSpPr/>
          <p:nvPr/>
        </p:nvSpPr>
        <p:spPr>
          <a:xfrm>
            <a:off x="4526280" y="2779776"/>
            <a:ext cx="1463040" cy="59436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723" name="Text 25"/>
          <p:cNvSpPr/>
          <p:nvPr/>
        </p:nvSpPr>
        <p:spPr>
          <a:xfrm>
            <a:off x="4526280" y="2779776"/>
            <a:ext cx="14630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DIMINISHMENT</a:t>
            </a:r>
            <a:endParaRPr dirty="0" sz="1000" lang="en-US"/>
          </a:p>
        </p:txBody>
      </p:sp>
      <p:sp>
        <p:nvSpPr>
          <p:cNvPr id="1048724" name="Text 26"/>
          <p:cNvSpPr/>
          <p:nvPr/>
        </p:nvSpPr>
        <p:spPr>
          <a:xfrm>
            <a:off x="6126480" y="2843784"/>
            <a:ext cx="260604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Unvalued — a lifetime reduced to a small object</a:t>
            </a:r>
            <a:endParaRPr dirty="0" sz="1250" lang="en-US"/>
          </a:p>
        </p:txBody>
      </p:sp>
      <p:sp>
        <p:nvSpPr>
          <p:cNvPr id="1048725" name="Shape 27"/>
          <p:cNvSpPr/>
          <p:nvPr/>
        </p:nvSpPr>
        <p:spPr>
          <a:xfrm>
            <a:off x="4526280" y="3474720"/>
            <a:ext cx="4389120" cy="1097280"/>
          </a:xfrm>
          <a:prstGeom prst="rect"/>
          <a:solidFill>
            <a:srgbClr val="EDE0D4"/>
          </a:solidFill>
          <a:ln w="12700">
            <a:solidFill>
              <a:srgbClr val="A26769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26" name="Shape 28"/>
          <p:cNvSpPr/>
          <p:nvPr/>
        </p:nvSpPr>
        <p:spPr>
          <a:xfrm>
            <a:off x="4526280" y="3474720"/>
            <a:ext cx="91440" cy="109728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727" name="Text 29"/>
          <p:cNvSpPr/>
          <p:nvPr/>
        </p:nvSpPr>
        <p:spPr>
          <a:xfrm>
            <a:off x="4709160" y="3538728"/>
            <a:ext cx="416052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5C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dirty="0" sz="1200" lang="en-US"/>
          </a:p>
        </p:txBody>
      </p:sp>
      <p:sp>
        <p:nvSpPr>
          <p:cNvPr id="1048728" name="Text 30"/>
          <p:cNvSpPr/>
          <p:nvPr/>
        </p:nvSpPr>
        <p:spPr>
          <a:xfrm>
            <a:off x="4709160" y="3840480"/>
            <a:ext cx="41605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 can be an insult in disguise. A gold watch cannot measure a human life — and that gap is where the story lives.</a:t>
            </a:r>
            <a:endParaRPr dirty="0" sz="1200" lang="en-US"/>
          </a:p>
        </p:txBody>
      </p:sp>
      <p:sp>
        <p:nvSpPr>
          <p:cNvPr id="1048729" name="Shape 31"/>
          <p:cNvSpPr/>
          <p:nvPr/>
        </p:nvSpPr>
        <p:spPr>
          <a:xfrm>
            <a:off x="0" y="4800600"/>
            <a:ext cx="9144000" cy="342900"/>
          </a:xfrm>
          <a:prstGeom prst="rect"/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1048730" name="Text 32"/>
          <p:cNvSpPr/>
          <p:nvPr/>
        </p:nvSpPr>
        <p:spPr>
          <a:xfrm>
            <a:off x="274320" y="4818888"/>
            <a:ext cx="85953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Mulk Raj Anand  ·  The Weight of the Ordinary  ·  English PBL</a:t>
            </a:r>
            <a:endParaRPr dirty="0" sz="10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E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735" name="Shape 1"/>
          <p:cNvSpPr/>
          <p:nvPr/>
        </p:nvSpPr>
        <p:spPr>
          <a:xfrm>
            <a:off x="0" y="0"/>
            <a:ext cx="137160" cy="86868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736" name="Text 4"/>
          <p:cNvSpPr/>
          <p:nvPr/>
        </p:nvSpPr>
        <p:spPr>
          <a:xfrm>
            <a:off x="274320" y="54864"/>
            <a:ext cx="7315200" cy="475488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4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3 — The Cobbler and the Machine</a:t>
            </a:r>
            <a:endParaRPr dirty="0" sz="2400" lang="en-US"/>
          </a:p>
        </p:txBody>
      </p:sp>
      <p:sp>
        <p:nvSpPr>
          <p:cNvPr id="1048737" name="Text 5"/>
          <p:cNvSpPr/>
          <p:nvPr/>
        </p:nvSpPr>
        <p:spPr>
          <a:xfrm>
            <a:off x="274320" y="530352"/>
            <a:ext cx="731520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1200" i="1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dirty="0" sz="1200" lang="en-US"/>
          </a:p>
        </p:txBody>
      </p:sp>
      <p:sp>
        <p:nvSpPr>
          <p:cNvPr id="1048738" name="Shape 6"/>
          <p:cNvSpPr/>
          <p:nvPr/>
        </p:nvSpPr>
        <p:spPr>
          <a:xfrm>
            <a:off x="365760" y="1005840"/>
            <a:ext cx="3931920" cy="356616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39" name="Text 7"/>
          <p:cNvSpPr/>
          <p:nvPr/>
        </p:nvSpPr>
        <p:spPr>
          <a:xfrm>
            <a:off x="502920" y="1097280"/>
            <a:ext cx="36576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COBBLER &amp;</a:t>
            </a:r>
            <a:endParaRPr dirty="0" sz="1500" lang="en-US"/>
          </a:p>
          <a:p>
            <a:pPr indent="0" marL="0">
              <a:buNone/>
            </a:pPr>
            <a:r>
              <a:rPr b="1" dirty="0" sz="15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MACHINE</a:t>
            </a:r>
            <a:endParaRPr dirty="0" sz="1500" lang="en-US"/>
          </a:p>
        </p:txBody>
      </p:sp>
      <p:sp>
        <p:nvSpPr>
          <p:cNvPr id="1048740" name="Shape 8"/>
          <p:cNvSpPr/>
          <p:nvPr/>
        </p:nvSpPr>
        <p:spPr>
          <a:xfrm>
            <a:off x="502920" y="1737360"/>
            <a:ext cx="3291840" cy="36576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741" name="Text 9"/>
          <p:cNvSpPr/>
          <p:nvPr/>
        </p:nvSpPr>
        <p:spPr>
          <a:xfrm>
            <a:off x="502920" y="1856232"/>
            <a:ext cx="356616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story:</a:t>
            </a:r>
            <a:endParaRPr dirty="0" sz="1200" lang="en-US"/>
          </a:p>
        </p:txBody>
      </p:sp>
      <p:sp>
        <p:nvSpPr>
          <p:cNvPr id="1048742" name="Text 10"/>
          <p:cNvSpPr/>
          <p:nvPr/>
        </p:nvSpPr>
        <p:spPr>
          <a:xfrm>
            <a:off x="502920" y="2176272"/>
            <a:ext cx="356616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cobbler's traditional skill becomes useless with the arrival of machines.</a:t>
            </a:r>
            <a:endParaRPr dirty="0" sz="1200" lang="en-US"/>
          </a:p>
        </p:txBody>
      </p:sp>
      <p:sp>
        <p:nvSpPr>
          <p:cNvPr id="1048743" name="Text 11"/>
          <p:cNvSpPr/>
          <p:nvPr/>
        </p:nvSpPr>
        <p:spPr>
          <a:xfrm>
            <a:off x="502920" y="2816352"/>
            <a:ext cx="356616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points:</a:t>
            </a:r>
            <a:endParaRPr dirty="0" sz="1200" lang="en-US"/>
          </a:p>
        </p:txBody>
      </p:sp>
      <p:sp>
        <p:nvSpPr>
          <p:cNvPr id="1048744" name="Text 12"/>
          <p:cNvSpPr/>
          <p:nvPr/>
        </p:nvSpPr>
        <p:spPr>
          <a:xfrm>
            <a:off x="502920" y="3136392"/>
            <a:ext cx="3566160" cy="777240"/>
          </a:xfrm>
          <a:prstGeom prst="rect"/>
          <a:noFill/>
        </p:spPr>
        <p:txBody>
          <a:bodyPr anchor="ctr" rtlCol="0" wrap="square"/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2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intentionally harms him</a:t>
            </a:r>
            <a:endParaRPr dirty="0" sz="1200" lang="en-US"/>
          </a:p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2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simply makes him irrelevant</a:t>
            </a:r>
            <a:endParaRPr dirty="0" sz="1200" lang="en-US"/>
          </a:p>
        </p:txBody>
      </p:sp>
      <p:sp>
        <p:nvSpPr>
          <p:cNvPr id="1048745" name="Text 13"/>
          <p:cNvSpPr/>
          <p:nvPr/>
        </p:nvSpPr>
        <p:spPr>
          <a:xfrm>
            <a:off x="502920" y="4041648"/>
            <a:ext cx="3566160" cy="43891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i="1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can silently erase a person's value.</a:t>
            </a:r>
            <a:endParaRPr dirty="0" sz="1150" lang="en-US"/>
          </a:p>
        </p:txBody>
      </p:sp>
      <p:sp>
        <p:nvSpPr>
          <p:cNvPr id="1048746" name="Text 14"/>
          <p:cNvSpPr/>
          <p:nvPr/>
        </p:nvSpPr>
        <p:spPr>
          <a:xfrm>
            <a:off x="4526280" y="1005840"/>
            <a:ext cx="438912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5C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Emotional Arc</a:t>
            </a:r>
            <a:endParaRPr dirty="0" sz="1500" lang="en-US"/>
          </a:p>
        </p:txBody>
      </p:sp>
      <p:sp>
        <p:nvSpPr>
          <p:cNvPr id="1048747" name="Shape 15"/>
          <p:cNvSpPr/>
          <p:nvPr/>
        </p:nvSpPr>
        <p:spPr>
          <a:xfrm>
            <a:off x="4526280" y="1463040"/>
            <a:ext cx="4343400" cy="594360"/>
          </a:xfrm>
          <a:prstGeom prst="rect"/>
          <a:solidFill>
            <a:srgbClr val="F0E9E0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748" name="Shape 16"/>
          <p:cNvSpPr/>
          <p:nvPr/>
        </p:nvSpPr>
        <p:spPr>
          <a:xfrm>
            <a:off x="4526280" y="1463040"/>
            <a:ext cx="1463040" cy="594360"/>
          </a:xfrm>
          <a:prstGeom prst="rect"/>
          <a:solidFill>
            <a:srgbClr val="8FAF8A"/>
          </a:solidFill>
          <a:ln w="12700">
            <a:solidFill>
              <a:srgbClr val="8FAF8A"/>
            </a:solidFill>
            <a:prstDash val="solid"/>
          </a:ln>
        </p:spPr>
      </p:sp>
      <p:sp>
        <p:nvSpPr>
          <p:cNvPr id="1048749" name="Text 17"/>
          <p:cNvSpPr/>
          <p:nvPr/>
        </p:nvSpPr>
        <p:spPr>
          <a:xfrm>
            <a:off x="4526280" y="1463040"/>
            <a:ext cx="14630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WHOLENESS</a:t>
            </a:r>
            <a:endParaRPr dirty="0" sz="1000" lang="en-US"/>
          </a:p>
        </p:txBody>
      </p:sp>
      <p:sp>
        <p:nvSpPr>
          <p:cNvPr id="1048750" name="Text 18"/>
          <p:cNvSpPr/>
          <p:nvPr/>
        </p:nvSpPr>
        <p:spPr>
          <a:xfrm>
            <a:off x="6126480" y="1527048"/>
            <a:ext cx="260604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through craft — skill was his entire self</a:t>
            </a:r>
            <a:endParaRPr dirty="0" sz="1250" lang="en-US"/>
          </a:p>
        </p:txBody>
      </p:sp>
      <p:sp>
        <p:nvSpPr>
          <p:cNvPr id="1048751" name="Shape 19"/>
          <p:cNvSpPr/>
          <p:nvPr/>
        </p:nvSpPr>
        <p:spPr>
          <a:xfrm>
            <a:off x="4526280" y="2121408"/>
            <a:ext cx="4343400" cy="594360"/>
          </a:xfrm>
          <a:prstGeom prst="rect"/>
          <a:solidFill>
            <a:srgbClr val="F5EFE6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752" name="Shape 20"/>
          <p:cNvSpPr/>
          <p:nvPr/>
        </p:nvSpPr>
        <p:spPr>
          <a:xfrm>
            <a:off x="4526280" y="2121408"/>
            <a:ext cx="1463040" cy="594360"/>
          </a:xfrm>
          <a:prstGeom prst="rect"/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048753" name="Text 21"/>
          <p:cNvSpPr/>
          <p:nvPr/>
        </p:nvSpPr>
        <p:spPr>
          <a:xfrm>
            <a:off x="4526280" y="2121408"/>
            <a:ext cx="14630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dirty="0" sz="1000" lang="en-US"/>
          </a:p>
        </p:txBody>
      </p:sp>
      <p:sp>
        <p:nvSpPr>
          <p:cNvPr id="1048754" name="Text 22"/>
          <p:cNvSpPr/>
          <p:nvPr/>
        </p:nvSpPr>
        <p:spPr>
          <a:xfrm>
            <a:off x="6126480" y="2185416"/>
            <a:ext cx="260604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Livelihood replaced by machines overnight</a:t>
            </a:r>
            <a:endParaRPr dirty="0" sz="1250" lang="en-US"/>
          </a:p>
        </p:txBody>
      </p:sp>
      <p:sp>
        <p:nvSpPr>
          <p:cNvPr id="1048755" name="Shape 23"/>
          <p:cNvSpPr/>
          <p:nvPr/>
        </p:nvSpPr>
        <p:spPr>
          <a:xfrm>
            <a:off x="4526280" y="2779776"/>
            <a:ext cx="4343400" cy="594360"/>
          </a:xfrm>
          <a:prstGeom prst="rect"/>
          <a:solidFill>
            <a:srgbClr val="F0E9E0"/>
          </a:solidFill>
          <a:ln w="6350">
            <a:solidFill>
              <a:srgbClr val="D4B8C4"/>
            </a:solidFill>
            <a:prstDash val="solid"/>
          </a:ln>
        </p:spPr>
      </p:sp>
      <p:sp>
        <p:nvSpPr>
          <p:cNvPr id="1048756" name="Shape 24"/>
          <p:cNvSpPr/>
          <p:nvPr/>
        </p:nvSpPr>
        <p:spPr>
          <a:xfrm>
            <a:off x="4526280" y="2779776"/>
            <a:ext cx="1463040" cy="59436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757" name="Text 25"/>
          <p:cNvSpPr/>
          <p:nvPr/>
        </p:nvSpPr>
        <p:spPr>
          <a:xfrm>
            <a:off x="4526280" y="2779776"/>
            <a:ext cx="146304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DIMINISHMENT</a:t>
            </a:r>
            <a:endParaRPr dirty="0" sz="1000" lang="en-US"/>
          </a:p>
        </p:txBody>
      </p:sp>
      <p:sp>
        <p:nvSpPr>
          <p:cNvPr id="1048758" name="Text 26"/>
          <p:cNvSpPr/>
          <p:nvPr/>
        </p:nvSpPr>
        <p:spPr>
          <a:xfrm>
            <a:off x="6126480" y="2843784"/>
            <a:ext cx="260604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Erased — not by cruelty, but by indifference</a:t>
            </a:r>
            <a:endParaRPr dirty="0" sz="1250" lang="en-US"/>
          </a:p>
        </p:txBody>
      </p:sp>
      <p:sp>
        <p:nvSpPr>
          <p:cNvPr id="1048759" name="Shape 27"/>
          <p:cNvSpPr/>
          <p:nvPr/>
        </p:nvSpPr>
        <p:spPr>
          <a:xfrm>
            <a:off x="4526280" y="3474720"/>
            <a:ext cx="4389120" cy="1097280"/>
          </a:xfrm>
          <a:prstGeom prst="rect"/>
          <a:solidFill>
            <a:srgbClr val="EDE0D4"/>
          </a:solidFill>
          <a:ln w="12700">
            <a:solidFill>
              <a:srgbClr val="A26769"/>
            </a:solidFill>
            <a:prstDash val="solid"/>
          </a:ln>
          <a:effectLst>
            <a:outerShdw algn="bl" blurRad="101600" dir="8100000" dist="38100" rotWithShape="0">
              <a:srgbClr val="000000">
                <a:alpha val="12000"/>
              </a:srgbClr>
            </a:outerShdw>
          </a:effectLst>
        </p:spPr>
      </p:sp>
      <p:sp>
        <p:nvSpPr>
          <p:cNvPr id="1048760" name="Shape 28"/>
          <p:cNvSpPr/>
          <p:nvPr/>
        </p:nvSpPr>
        <p:spPr>
          <a:xfrm>
            <a:off x="4526280" y="3474720"/>
            <a:ext cx="91440" cy="109728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761" name="Text 29"/>
          <p:cNvSpPr/>
          <p:nvPr/>
        </p:nvSpPr>
        <p:spPr>
          <a:xfrm>
            <a:off x="4709160" y="3538728"/>
            <a:ext cx="416052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5C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dirty="0" sz="1200" lang="en-US"/>
          </a:p>
        </p:txBody>
      </p:sp>
      <p:sp>
        <p:nvSpPr>
          <p:cNvPr id="1048762" name="Text 30"/>
          <p:cNvSpPr/>
          <p:nvPr/>
        </p:nvSpPr>
        <p:spPr>
          <a:xfrm>
            <a:off x="4709160" y="3840480"/>
            <a:ext cx="41605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person's skill is their identity, making that skill obsolete erases who they are — not through hatred, but through forgetting.</a:t>
            </a:r>
            <a:endParaRPr dirty="0" sz="1200" lang="en-US"/>
          </a:p>
        </p:txBody>
      </p:sp>
      <p:sp>
        <p:nvSpPr>
          <p:cNvPr id="1048763" name="Shape 31"/>
          <p:cNvSpPr/>
          <p:nvPr/>
        </p:nvSpPr>
        <p:spPr>
          <a:xfrm>
            <a:off x="0" y="4800600"/>
            <a:ext cx="9144000" cy="342900"/>
          </a:xfrm>
          <a:prstGeom prst="rect"/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1048764" name="Text 32"/>
          <p:cNvSpPr/>
          <p:nvPr/>
        </p:nvSpPr>
        <p:spPr>
          <a:xfrm>
            <a:off x="274320" y="4818888"/>
            <a:ext cx="85953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Mulk Raj Anand  ·  The Weight of the Ordinary  ·  English PBL</a:t>
            </a:r>
            <a:endParaRPr dirty="0" sz="10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17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1A0A10"/>
          </a:solidFill>
          <a:ln w="12700">
            <a:solidFill>
              <a:srgbClr val="1A0A10"/>
            </a:solidFill>
            <a:prstDash val="solid"/>
          </a:ln>
        </p:spPr>
      </p:sp>
      <p:sp>
        <p:nvSpPr>
          <p:cNvPr id="1048769" name="Shape 1"/>
          <p:cNvSpPr/>
          <p:nvPr/>
        </p:nvSpPr>
        <p:spPr>
          <a:xfrm>
            <a:off x="0" y="0"/>
            <a:ext cx="137160" cy="868680"/>
          </a:xfrm>
          <a:prstGeom prst="rect"/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48770" name="Text 4"/>
          <p:cNvSpPr/>
          <p:nvPr/>
        </p:nvSpPr>
        <p:spPr>
          <a:xfrm>
            <a:off x="274320" y="54864"/>
            <a:ext cx="7315200" cy="47548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Model &amp; Conclusion</a:t>
            </a:r>
            <a:endParaRPr dirty="0" sz="2400" lang="en-US"/>
          </a:p>
        </p:txBody>
      </p:sp>
      <p:sp>
        <p:nvSpPr>
          <p:cNvPr id="1048771" name="Text 5"/>
          <p:cNvSpPr/>
          <p:nvPr/>
        </p:nvSpPr>
        <p:spPr>
          <a:xfrm>
            <a:off x="274320" y="530352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i="1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Staircase</a:t>
            </a:r>
            <a:endParaRPr dirty="0" sz="1200" lang="en-US"/>
          </a:p>
        </p:txBody>
      </p:sp>
      <p:sp>
        <p:nvSpPr>
          <p:cNvPr id="1048772" name="Text 6"/>
          <p:cNvSpPr/>
          <p:nvPr/>
        </p:nvSpPr>
        <p:spPr>
          <a:xfrm>
            <a:off x="365760" y="987552"/>
            <a:ext cx="41148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Symbolism</a:t>
            </a:r>
            <a:endParaRPr dirty="0" sz="1500" lang="en-US"/>
          </a:p>
        </p:txBody>
      </p:sp>
      <p:sp>
        <p:nvSpPr>
          <p:cNvPr id="1048773" name="Shape 7"/>
          <p:cNvSpPr/>
          <p:nvPr/>
        </p:nvSpPr>
        <p:spPr>
          <a:xfrm>
            <a:off x="365760" y="1389888"/>
            <a:ext cx="4114800" cy="475488"/>
          </a:xfrm>
          <a:prstGeom prst="rect"/>
          <a:solidFill>
            <a:srgbClr val="3A2228"/>
          </a:solidFill>
          <a:ln w="6350">
            <a:solidFill>
              <a:srgbClr val="5A3040"/>
            </a:solidFill>
            <a:prstDash val="solid"/>
          </a:ln>
        </p:spPr>
      </p:sp>
      <p:sp>
        <p:nvSpPr>
          <p:cNvPr id="1048774" name="Shape 8"/>
          <p:cNvSpPr/>
          <p:nvPr/>
        </p:nvSpPr>
        <p:spPr>
          <a:xfrm>
            <a:off x="365760" y="1389888"/>
            <a:ext cx="91440" cy="475488"/>
          </a:xfrm>
          <a:prstGeom prst="rect"/>
          <a:solidFill>
            <a:srgbClr val="8FAF8A"/>
          </a:solidFill>
          <a:ln w="12700">
            <a:solidFill>
              <a:srgbClr val="8FAF8A"/>
            </a:solidFill>
            <a:prstDash val="solid"/>
          </a:ln>
        </p:spPr>
      </p:sp>
      <p:sp>
        <p:nvSpPr>
          <p:cNvPr id="1048775" name="Text 9"/>
          <p:cNvSpPr/>
          <p:nvPr/>
        </p:nvSpPr>
        <p:spPr>
          <a:xfrm>
            <a:off x="566928" y="1444752"/>
            <a:ext cx="13716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C9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staircase</a:t>
            </a:r>
            <a:endParaRPr dirty="0" sz="1100" lang="en-US"/>
          </a:p>
        </p:txBody>
      </p:sp>
      <p:sp>
        <p:nvSpPr>
          <p:cNvPr id="1048776" name="Text 10"/>
          <p:cNvSpPr/>
          <p:nvPr/>
        </p:nvSpPr>
        <p:spPr>
          <a:xfrm>
            <a:off x="2011680" y="1444752"/>
            <a:ext cx="237744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Life's upward arc — desire for progress</a:t>
            </a:r>
            <a:endParaRPr dirty="0" sz="1100" lang="en-US"/>
          </a:p>
        </p:txBody>
      </p:sp>
      <p:sp>
        <p:nvSpPr>
          <p:cNvPr id="1048777" name="Shape 11"/>
          <p:cNvSpPr/>
          <p:nvPr/>
        </p:nvSpPr>
        <p:spPr>
          <a:xfrm>
            <a:off x="365760" y="1920240"/>
            <a:ext cx="4114800" cy="475488"/>
          </a:xfrm>
          <a:prstGeom prst="rect"/>
          <a:solidFill>
            <a:srgbClr val="2E1A20"/>
          </a:solidFill>
          <a:ln w="6350">
            <a:solidFill>
              <a:srgbClr val="5A3040"/>
            </a:solidFill>
            <a:prstDash val="solid"/>
          </a:ln>
        </p:spPr>
      </p:sp>
      <p:sp>
        <p:nvSpPr>
          <p:cNvPr id="1048778" name="Shape 12"/>
          <p:cNvSpPr/>
          <p:nvPr/>
        </p:nvSpPr>
        <p:spPr>
          <a:xfrm>
            <a:off x="365760" y="1920240"/>
            <a:ext cx="91440" cy="475488"/>
          </a:xfrm>
          <a:prstGeom prst="rect"/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048779" name="Text 13"/>
          <p:cNvSpPr/>
          <p:nvPr/>
        </p:nvSpPr>
        <p:spPr>
          <a:xfrm>
            <a:off x="566928" y="1975104"/>
            <a:ext cx="13716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C9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top step</a:t>
            </a:r>
            <a:endParaRPr dirty="0" sz="1100" lang="en-US"/>
          </a:p>
        </p:txBody>
      </p:sp>
      <p:sp>
        <p:nvSpPr>
          <p:cNvPr id="1048780" name="Text 14"/>
          <p:cNvSpPr/>
          <p:nvPr/>
        </p:nvSpPr>
        <p:spPr>
          <a:xfrm>
            <a:off x="2011680" y="1975104"/>
            <a:ext cx="237744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 that remain incomplete</a:t>
            </a:r>
            <a:endParaRPr dirty="0" sz="1100" lang="en-US"/>
          </a:p>
        </p:txBody>
      </p:sp>
      <p:sp>
        <p:nvSpPr>
          <p:cNvPr id="1048781" name="Shape 15"/>
          <p:cNvSpPr/>
          <p:nvPr/>
        </p:nvSpPr>
        <p:spPr>
          <a:xfrm>
            <a:off x="365760" y="2450592"/>
            <a:ext cx="4114800" cy="475488"/>
          </a:xfrm>
          <a:prstGeom prst="rect"/>
          <a:solidFill>
            <a:srgbClr val="3A2228"/>
          </a:solidFill>
          <a:ln w="6350">
            <a:solidFill>
              <a:srgbClr val="5A3040"/>
            </a:solidFill>
            <a:prstDash val="solid"/>
          </a:ln>
        </p:spPr>
      </p:sp>
      <p:sp>
        <p:nvSpPr>
          <p:cNvPr id="1048782" name="Shape 16"/>
          <p:cNvSpPr/>
          <p:nvPr/>
        </p:nvSpPr>
        <p:spPr>
          <a:xfrm>
            <a:off x="365760" y="2450592"/>
            <a:ext cx="91440" cy="475488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783" name="Text 17"/>
          <p:cNvSpPr/>
          <p:nvPr/>
        </p:nvSpPr>
        <p:spPr>
          <a:xfrm>
            <a:off x="566928" y="2505456"/>
            <a:ext cx="13716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C9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fragment</a:t>
            </a:r>
            <a:endParaRPr dirty="0" sz="1100" lang="en-US"/>
          </a:p>
        </p:txBody>
      </p:sp>
      <p:sp>
        <p:nvSpPr>
          <p:cNvPr id="1048784" name="Text 18"/>
          <p:cNvSpPr/>
          <p:nvPr/>
        </p:nvSpPr>
        <p:spPr>
          <a:xfrm>
            <a:off x="2011680" y="2505456"/>
            <a:ext cx="237744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identity, dignity, or belonging</a:t>
            </a:r>
            <a:endParaRPr dirty="0" sz="1100" lang="en-US"/>
          </a:p>
        </p:txBody>
      </p:sp>
      <p:sp>
        <p:nvSpPr>
          <p:cNvPr id="1048785" name="Shape 19"/>
          <p:cNvSpPr/>
          <p:nvPr/>
        </p:nvSpPr>
        <p:spPr>
          <a:xfrm>
            <a:off x="365760" y="2980944"/>
            <a:ext cx="4114800" cy="475488"/>
          </a:xfrm>
          <a:prstGeom prst="rect"/>
          <a:solidFill>
            <a:srgbClr val="2E1A20"/>
          </a:solidFill>
          <a:ln w="6350">
            <a:solidFill>
              <a:srgbClr val="5A3040"/>
            </a:solidFill>
            <a:prstDash val="solid"/>
          </a:ln>
        </p:spPr>
      </p:sp>
      <p:sp>
        <p:nvSpPr>
          <p:cNvPr id="1048786" name="Shape 20"/>
          <p:cNvSpPr/>
          <p:nvPr/>
        </p:nvSpPr>
        <p:spPr>
          <a:xfrm>
            <a:off x="365760" y="2980944"/>
            <a:ext cx="91440" cy="475488"/>
          </a:xfrm>
          <a:prstGeom prst="rect"/>
          <a:solidFill>
            <a:srgbClr val="6B4455"/>
          </a:solidFill>
          <a:ln w="12700">
            <a:solidFill>
              <a:srgbClr val="6B4455"/>
            </a:solidFill>
            <a:prstDash val="solid"/>
          </a:ln>
        </p:spPr>
      </p:sp>
      <p:sp>
        <p:nvSpPr>
          <p:cNvPr id="1048787" name="Text 21"/>
          <p:cNvSpPr/>
          <p:nvPr/>
        </p:nvSpPr>
        <p:spPr>
          <a:xfrm>
            <a:off x="566928" y="3035808"/>
            <a:ext cx="13716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C9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at base</a:t>
            </a:r>
            <a:endParaRPr dirty="0" sz="1100" lang="en-US"/>
          </a:p>
        </p:txBody>
      </p:sp>
      <p:sp>
        <p:nvSpPr>
          <p:cNvPr id="1048788" name="Text 22"/>
          <p:cNvSpPr/>
          <p:nvPr/>
        </p:nvSpPr>
        <p:spPr>
          <a:xfrm>
            <a:off x="2011680" y="3035808"/>
            <a:ext cx="237744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 — stopped, not defeated</a:t>
            </a:r>
            <a:endParaRPr dirty="0" sz="1100" lang="en-US"/>
          </a:p>
        </p:txBody>
      </p:sp>
      <p:sp>
        <p:nvSpPr>
          <p:cNvPr id="1048789" name="Shape 23"/>
          <p:cNvSpPr/>
          <p:nvPr/>
        </p:nvSpPr>
        <p:spPr>
          <a:xfrm>
            <a:off x="365760" y="3511296"/>
            <a:ext cx="4114800" cy="475488"/>
          </a:xfrm>
          <a:prstGeom prst="rect"/>
          <a:solidFill>
            <a:srgbClr val="3A2228"/>
          </a:solidFill>
          <a:ln w="6350">
            <a:solidFill>
              <a:srgbClr val="5A3040"/>
            </a:solidFill>
            <a:prstDash val="solid"/>
          </a:ln>
        </p:spPr>
      </p:sp>
      <p:sp>
        <p:nvSpPr>
          <p:cNvPr id="1048790" name="Shape 24"/>
          <p:cNvSpPr/>
          <p:nvPr/>
        </p:nvSpPr>
        <p:spPr>
          <a:xfrm>
            <a:off x="365760" y="3511296"/>
            <a:ext cx="91440" cy="475488"/>
          </a:xfrm>
          <a:prstGeom prst="rect"/>
          <a:solidFill>
            <a:srgbClr val="3D2030"/>
          </a:solidFill>
          <a:ln w="12700">
            <a:solidFill>
              <a:srgbClr val="3D2030"/>
            </a:solidFill>
            <a:prstDash val="solid"/>
          </a:ln>
        </p:spPr>
      </p:sp>
      <p:sp>
        <p:nvSpPr>
          <p:cNvPr id="1048791" name="Text 25"/>
          <p:cNvSpPr/>
          <p:nvPr/>
        </p:nvSpPr>
        <p:spPr>
          <a:xfrm>
            <a:off x="566928" y="3566160"/>
            <a:ext cx="13716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C9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cards</a:t>
            </a:r>
            <a:endParaRPr dirty="0" sz="1100" lang="en-US"/>
          </a:p>
        </p:txBody>
      </p:sp>
      <p:sp>
        <p:nvSpPr>
          <p:cNvPr id="1048792" name="Text 26"/>
          <p:cNvSpPr/>
          <p:nvPr/>
        </p:nvSpPr>
        <p:spPr>
          <a:xfrm>
            <a:off x="2011680" y="3566160"/>
            <a:ext cx="237744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on each step: story, moment, theme</a:t>
            </a:r>
            <a:endParaRPr dirty="0" sz="1100" lang="en-US"/>
          </a:p>
        </p:txBody>
      </p:sp>
      <p:sp>
        <p:nvSpPr>
          <p:cNvPr id="1048793" name="Shape 42"/>
          <p:cNvSpPr/>
          <p:nvPr/>
        </p:nvSpPr>
        <p:spPr>
          <a:xfrm>
            <a:off x="0" y="4800600"/>
            <a:ext cx="9144000" cy="342900"/>
          </a:xfrm>
          <a:prstGeom prst="rect"/>
          <a:solidFill>
            <a:srgbClr val="5C1A3A"/>
          </a:solidFill>
          <a:ln w="12700">
            <a:solidFill>
              <a:srgbClr val="5C1A3A"/>
            </a:solidFill>
            <a:prstDash val="solid"/>
          </a:ln>
        </p:spPr>
      </p:sp>
      <p:sp>
        <p:nvSpPr>
          <p:cNvPr id="1048794" name="Text 43"/>
          <p:cNvSpPr/>
          <p:nvPr/>
        </p:nvSpPr>
        <p:spPr>
          <a:xfrm>
            <a:off x="274320" y="4818888"/>
            <a:ext cx="85953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Mulk Raj Anand  ·  The Weight of the Ordinary  ·  English PBL</a:t>
            </a:r>
            <a:endParaRPr dirty="0" sz="1000" lang="en-US"/>
          </a:p>
        </p:txBody>
      </p:sp>
      <p:pic>
        <p:nvPicPr>
          <p:cNvPr id="2097154" name="Picture 4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898643" y="1588057"/>
            <a:ext cx="3187193" cy="2200558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The Weight of the Ordinary</dc:title>
  <dc:creator>PptxGenJS</dc:creator>
  <cp:lastModifiedBy>aakriti karan</cp:lastModifiedBy>
  <dcterms:created xsi:type="dcterms:W3CDTF">2026-04-05T08:59:32Z</dcterms:created>
  <dcterms:modified xsi:type="dcterms:W3CDTF">2026-04-16T12:35:51Z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7ec3d67ced244a1983570b27e6bc6fec</vt:lpwstr>
  </property>
</Properties>
</file>